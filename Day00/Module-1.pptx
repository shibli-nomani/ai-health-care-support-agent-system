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nSL8iwLsv+sXmVppG3I6HzkG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93F030-7346-4CB9-9DCC-4B1F7B28DE53}">
  <a:tblStyle styleId="{E993F030-7346-4CB9-9DCC-4B1F7B28DE5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/>
              <a:t>Khan Md Shibli Nomani -- AI Agent</a:t>
            </a:r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Langchain and Langgraph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Module – 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Khan Md Shibli Nomani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Date: 25-11-2025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3A0404-8657-47E1-1334-B38E902A4D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026368" y="1410575"/>
            <a:ext cx="5295774" cy="2937490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1122784" y="503853"/>
            <a:ext cx="9144000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Langchain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1026367" y="1569876"/>
            <a:ext cx="5439747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dirty="0"/>
              <a:t>It’s a framework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dirty="0"/>
              <a:t>Perform LLM Task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dirty="0" err="1"/>
              <a:t>Langchain</a:t>
            </a:r>
            <a:r>
              <a:rPr lang="en-US" sz="2000" dirty="0"/>
              <a:t> is known for Sequential Task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dirty="0"/>
              <a:t>Use to build AI Agent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dirty="0"/>
              <a:t>Example: RAG, Chabot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8978" y="957214"/>
            <a:ext cx="1857634" cy="387721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8991600" y="1334277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8991600" y="2478689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0818424" y="2478688"/>
            <a:ext cx="830426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8972941" y="4679705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cxnSp>
        <p:nvCxnSpPr>
          <p:cNvPr id="98" name="Google Shape;98;p2"/>
          <p:cNvCxnSpPr>
            <a:stCxn id="94" idx="2"/>
            <a:endCxn id="95" idx="0"/>
          </p:cNvCxnSpPr>
          <p:nvPr/>
        </p:nvCxnSpPr>
        <p:spPr>
          <a:xfrm>
            <a:off x="9677400" y="1987420"/>
            <a:ext cx="0" cy="491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" name="Google Shape;99;p2"/>
          <p:cNvCxnSpPr>
            <a:endCxn id="97" idx="0"/>
          </p:cNvCxnSpPr>
          <p:nvPr/>
        </p:nvCxnSpPr>
        <p:spPr>
          <a:xfrm>
            <a:off x="9658741" y="4085405"/>
            <a:ext cx="0" cy="594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" name="Google Shape;100;p2"/>
          <p:cNvCxnSpPr/>
          <p:nvPr/>
        </p:nvCxnSpPr>
        <p:spPr>
          <a:xfrm rot="10800000" flipH="1">
            <a:off x="10363200" y="2618645"/>
            <a:ext cx="455224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" name="Google Shape;101;p2"/>
          <p:cNvCxnSpPr/>
          <p:nvPr/>
        </p:nvCxnSpPr>
        <p:spPr>
          <a:xfrm rot="10800000">
            <a:off x="10363200" y="2976465"/>
            <a:ext cx="45522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" name="Google Shape;102;p2"/>
          <p:cNvSpPr txBox="1"/>
          <p:nvPr/>
        </p:nvSpPr>
        <p:spPr>
          <a:xfrm>
            <a:off x="958721" y="4465098"/>
            <a:ext cx="6097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PDF → Chunk → Embed → Store → Retrieve → Answer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 rot="-3404060">
            <a:off x="10179407" y="1553819"/>
            <a:ext cx="1863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9067716" y="3643607"/>
            <a:ext cx="118205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/>
          </a:p>
        </p:txBody>
      </p:sp>
      <p:cxnSp>
        <p:nvCxnSpPr>
          <p:cNvPr id="105" name="Google Shape;105;p2"/>
          <p:cNvCxnSpPr/>
          <p:nvPr/>
        </p:nvCxnSpPr>
        <p:spPr>
          <a:xfrm>
            <a:off x="9672735" y="3131831"/>
            <a:ext cx="0" cy="49126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0B834F-F45F-FE38-39B2-3993DA9A77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830423" y="1410575"/>
            <a:ext cx="4627983" cy="2937490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ctrTitle"/>
          </p:nvPr>
        </p:nvSpPr>
        <p:spPr>
          <a:xfrm>
            <a:off x="665582" y="503853"/>
            <a:ext cx="9144000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LangGraph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ubTitle" idx="1"/>
          </p:nvPr>
        </p:nvSpPr>
        <p:spPr>
          <a:xfrm>
            <a:off x="830424" y="1616188"/>
            <a:ext cx="4505134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It’s a framework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Perform LLM Task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LangGraph is known for Parallel Task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Use to build AI Agent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Conditional Logic &amp; Loop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Parallel nodes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State management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Example: RAG, Chabot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991600" y="1334277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991600" y="2478689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0818424" y="2514600"/>
            <a:ext cx="830426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9123782" y="4970152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cxnSp>
        <p:nvCxnSpPr>
          <p:cNvPr id="117" name="Google Shape;117;p3"/>
          <p:cNvCxnSpPr>
            <a:stCxn id="113" idx="2"/>
            <a:endCxn id="114" idx="0"/>
          </p:cNvCxnSpPr>
          <p:nvPr/>
        </p:nvCxnSpPr>
        <p:spPr>
          <a:xfrm>
            <a:off x="9677400" y="1987420"/>
            <a:ext cx="0" cy="491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3"/>
          <p:cNvCxnSpPr>
            <a:endCxn id="119" idx="0"/>
          </p:cNvCxnSpPr>
          <p:nvPr/>
        </p:nvCxnSpPr>
        <p:spPr>
          <a:xfrm flipH="1">
            <a:off x="9086375" y="3131869"/>
            <a:ext cx="396600" cy="594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3"/>
          <p:cNvCxnSpPr/>
          <p:nvPr/>
        </p:nvCxnSpPr>
        <p:spPr>
          <a:xfrm rot="10800000" flipH="1">
            <a:off x="10363200" y="2654557"/>
            <a:ext cx="455224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121;p3"/>
          <p:cNvCxnSpPr/>
          <p:nvPr/>
        </p:nvCxnSpPr>
        <p:spPr>
          <a:xfrm rot="10800000">
            <a:off x="10363200" y="3012377"/>
            <a:ext cx="45522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5085" y="841084"/>
            <a:ext cx="2896004" cy="4248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8495350" y="3726169"/>
            <a:ext cx="118205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/>
          </a:p>
        </p:txBody>
      </p:sp>
      <p:cxnSp>
        <p:nvCxnSpPr>
          <p:cNvPr id="123" name="Google Shape;123;p3"/>
          <p:cNvCxnSpPr>
            <a:stCxn id="119" idx="2"/>
          </p:cNvCxnSpPr>
          <p:nvPr/>
        </p:nvCxnSpPr>
        <p:spPr>
          <a:xfrm>
            <a:off x="9086375" y="4379312"/>
            <a:ext cx="591000" cy="590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" name="Google Shape;124;p3"/>
          <p:cNvCxnSpPr/>
          <p:nvPr/>
        </p:nvCxnSpPr>
        <p:spPr>
          <a:xfrm>
            <a:off x="10016412" y="3131831"/>
            <a:ext cx="0" cy="183832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5" name="Google Shape;125;p3"/>
          <p:cNvSpPr txBox="1"/>
          <p:nvPr/>
        </p:nvSpPr>
        <p:spPr>
          <a:xfrm>
            <a:off x="10080169" y="3747599"/>
            <a:ext cx="14431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Found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0016412" y="4194646"/>
            <a:ext cx="2002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Edge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 rot="-3404060">
            <a:off x="10179407" y="1553819"/>
            <a:ext cx="1863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D29C83-1CE4-667A-1531-D4AC9DEFF3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830423" y="1410575"/>
            <a:ext cx="5113177" cy="2937490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>
            <a:spLocks noGrp="1"/>
          </p:cNvSpPr>
          <p:nvPr>
            <p:ph type="ctrTitle"/>
          </p:nvPr>
        </p:nvSpPr>
        <p:spPr>
          <a:xfrm>
            <a:off x="665582" y="503853"/>
            <a:ext cx="9144000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Node &amp; Edges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subTitle" idx="1"/>
          </p:nvPr>
        </p:nvSpPr>
        <p:spPr>
          <a:xfrm>
            <a:off x="830423" y="1616188"/>
            <a:ext cx="4792821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Node: Performs Specific task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Node contains: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/>
              <a:t>	</a:t>
            </a:r>
            <a:r>
              <a:rPr lang="en-US" sz="2000" b="1"/>
              <a:t>Function, Logic,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/>
              <a:t>	Tools (optional)</a:t>
            </a:r>
            <a:r>
              <a:rPr lang="en-US" sz="2100" b="1"/>
              <a:t>, LLM (optional)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/>
              <a:t>3.    Edge: Connects nodes to maintain task flow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991600" y="1334277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991600" y="2478689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0818424" y="2514600"/>
            <a:ext cx="830426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9123782" y="4970152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cxnSp>
        <p:nvCxnSpPr>
          <p:cNvPr id="139" name="Google Shape;139;p4"/>
          <p:cNvCxnSpPr>
            <a:stCxn id="135" idx="2"/>
            <a:endCxn id="136" idx="0"/>
          </p:cNvCxnSpPr>
          <p:nvPr/>
        </p:nvCxnSpPr>
        <p:spPr>
          <a:xfrm>
            <a:off x="9677400" y="1987420"/>
            <a:ext cx="0" cy="491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0" name="Google Shape;140;p4"/>
          <p:cNvCxnSpPr>
            <a:endCxn id="141" idx="0"/>
          </p:cNvCxnSpPr>
          <p:nvPr/>
        </p:nvCxnSpPr>
        <p:spPr>
          <a:xfrm flipH="1">
            <a:off x="9086375" y="3131869"/>
            <a:ext cx="396600" cy="594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2" name="Google Shape;142;p4"/>
          <p:cNvCxnSpPr/>
          <p:nvPr/>
        </p:nvCxnSpPr>
        <p:spPr>
          <a:xfrm rot="10800000" flipH="1">
            <a:off x="10363200" y="2654557"/>
            <a:ext cx="455224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3" name="Google Shape;143;p4"/>
          <p:cNvCxnSpPr/>
          <p:nvPr/>
        </p:nvCxnSpPr>
        <p:spPr>
          <a:xfrm rot="10800000">
            <a:off x="10363200" y="3012377"/>
            <a:ext cx="45522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1" name="Google Shape;141;p4"/>
          <p:cNvSpPr/>
          <p:nvPr/>
        </p:nvSpPr>
        <p:spPr>
          <a:xfrm>
            <a:off x="8495350" y="3726169"/>
            <a:ext cx="118205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/>
          </a:p>
        </p:txBody>
      </p:sp>
      <p:cxnSp>
        <p:nvCxnSpPr>
          <p:cNvPr id="144" name="Google Shape;144;p4"/>
          <p:cNvCxnSpPr>
            <a:stCxn id="141" idx="2"/>
          </p:cNvCxnSpPr>
          <p:nvPr/>
        </p:nvCxnSpPr>
        <p:spPr>
          <a:xfrm>
            <a:off x="9086375" y="4379312"/>
            <a:ext cx="591000" cy="590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/>
          <p:nvPr/>
        </p:nvCxnSpPr>
        <p:spPr>
          <a:xfrm>
            <a:off x="10016412" y="3131831"/>
            <a:ext cx="0" cy="183832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6" name="Google Shape;146;p4"/>
          <p:cNvSpPr txBox="1"/>
          <p:nvPr/>
        </p:nvSpPr>
        <p:spPr>
          <a:xfrm>
            <a:off x="10068267" y="3528817"/>
            <a:ext cx="18630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Not Found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0016412" y="4194646"/>
            <a:ext cx="2002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Edge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 rot="-3404060">
            <a:off x="10179407" y="1553819"/>
            <a:ext cx="1863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7752007" y="3773120"/>
            <a:ext cx="7433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8528269" y="3170394"/>
            <a:ext cx="7433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6374DA-AF43-6E28-2BEE-1F555DE8E3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830423" y="1662502"/>
            <a:ext cx="5113177" cy="2937490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>
            <a:spLocks noGrp="1"/>
          </p:cNvSpPr>
          <p:nvPr>
            <p:ph type="ctrTitle"/>
          </p:nvPr>
        </p:nvSpPr>
        <p:spPr>
          <a:xfrm>
            <a:off x="674912" y="705021"/>
            <a:ext cx="11604174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State, StateGraph, MemorySaver, Start, End, Tools</a:t>
            </a:r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1"/>
          </p:nvPr>
        </p:nvSpPr>
        <p:spPr>
          <a:xfrm>
            <a:off x="830423" y="1868115"/>
            <a:ext cx="4792821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000"/>
              <a:t>State Class: Store the query and pass through different state. It stores current Query &amp; Response. Reset in every run.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StateGraph: Builds workflow steps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MemorySaver: </a:t>
            </a:r>
            <a:endParaRPr/>
          </a:p>
          <a:p>
            <a:pPr marL="914400" lvl="1" indent="-4572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1700"/>
              <a:t>Save the response with query of 1st Run. And store next run as well details.</a:t>
            </a:r>
            <a:endParaRPr/>
          </a:p>
          <a:p>
            <a:pPr marL="914400" lvl="1" indent="-4572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1700"/>
              <a:t>All communication until session/kernel reset (In memory)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Start: Entry point of Graph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End: Closing point of Graph</a:t>
            </a:r>
            <a:endParaRPr/>
          </a:p>
          <a:p>
            <a:pPr marL="457200" lvl="0" indent="-4572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100"/>
              <a:t>Tools: Task executor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10372536" y="1156171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10372536" y="2823922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 Node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367937" y="1368990"/>
            <a:ext cx="1272487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397418" y="4827662"/>
            <a:ext cx="1371600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cxnSp>
        <p:nvCxnSpPr>
          <p:cNvPr id="162" name="Google Shape;162;p5"/>
          <p:cNvCxnSpPr>
            <a:endCxn id="159" idx="0"/>
          </p:cNvCxnSpPr>
          <p:nvPr/>
        </p:nvCxnSpPr>
        <p:spPr>
          <a:xfrm>
            <a:off x="11058336" y="2473522"/>
            <a:ext cx="0" cy="350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5"/>
          <p:cNvCxnSpPr/>
          <p:nvPr/>
        </p:nvCxnSpPr>
        <p:spPr>
          <a:xfrm>
            <a:off x="11064079" y="3423726"/>
            <a:ext cx="0" cy="7716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4" name="Google Shape;164;p5"/>
          <p:cNvCxnSpPr/>
          <p:nvPr/>
        </p:nvCxnSpPr>
        <p:spPr>
          <a:xfrm>
            <a:off x="9265299" y="2029448"/>
            <a:ext cx="0" cy="84367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5" name="Google Shape;165;p5"/>
          <p:cNvCxnSpPr/>
          <p:nvPr/>
        </p:nvCxnSpPr>
        <p:spPr>
          <a:xfrm rot="10800000">
            <a:off x="8789437" y="2034703"/>
            <a:ext cx="0" cy="84367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6" name="Google Shape;166;p5"/>
          <p:cNvSpPr txBox="1"/>
          <p:nvPr/>
        </p:nvSpPr>
        <p:spPr>
          <a:xfrm rot="-4691674">
            <a:off x="8952166" y="1824719"/>
            <a:ext cx="20517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10133047" y="2514036"/>
            <a:ext cx="7433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10256844" y="3613714"/>
            <a:ext cx="7433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474788" y="2877082"/>
            <a:ext cx="1165636" cy="66821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ToolNode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 flipH="1">
            <a:off x="9640424" y="3013731"/>
            <a:ext cx="725152" cy="753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1" name="Google Shape;171;p5"/>
          <p:cNvCxnSpPr/>
          <p:nvPr/>
        </p:nvCxnSpPr>
        <p:spPr>
          <a:xfrm>
            <a:off x="9640424" y="3385714"/>
            <a:ext cx="72515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5"/>
          <p:cNvSpPr/>
          <p:nvPr/>
        </p:nvSpPr>
        <p:spPr>
          <a:xfrm>
            <a:off x="10438386" y="1945963"/>
            <a:ext cx="1298124" cy="52745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dirty="0"/>
          </a:p>
        </p:txBody>
      </p:sp>
      <p:sp>
        <p:nvSpPr>
          <p:cNvPr id="173" name="Google Shape;173;p5"/>
          <p:cNvSpPr/>
          <p:nvPr/>
        </p:nvSpPr>
        <p:spPr>
          <a:xfrm>
            <a:off x="10596562" y="4187643"/>
            <a:ext cx="916575" cy="383358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034775" y="3917657"/>
            <a:ext cx="426591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= [summary, male_female_avg_age]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llm_with_tools = llm.bind_tools(tools)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176122" y="2892149"/>
            <a:ext cx="830426" cy="65314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cxnSp>
        <p:nvCxnSpPr>
          <p:cNvPr id="176" name="Google Shape;176;p5"/>
          <p:cNvCxnSpPr/>
          <p:nvPr/>
        </p:nvCxnSpPr>
        <p:spPr>
          <a:xfrm rot="10800000" flipH="1">
            <a:off x="8019564" y="3013388"/>
            <a:ext cx="455224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7" name="Google Shape;177;p5"/>
          <p:cNvCxnSpPr/>
          <p:nvPr/>
        </p:nvCxnSpPr>
        <p:spPr>
          <a:xfrm rot="10800000">
            <a:off x="8019564" y="3388628"/>
            <a:ext cx="45522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8" name="Google Shape;178;p5"/>
          <p:cNvSpPr txBox="1"/>
          <p:nvPr/>
        </p:nvSpPr>
        <p:spPr>
          <a:xfrm>
            <a:off x="8311217" y="749389"/>
            <a:ext cx="15692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 Database</a:t>
            </a:r>
            <a:endParaRPr dirty="0"/>
          </a:p>
        </p:txBody>
      </p:sp>
      <p:sp>
        <p:nvSpPr>
          <p:cNvPr id="179" name="Google Shape;179;p5"/>
          <p:cNvSpPr txBox="1"/>
          <p:nvPr/>
        </p:nvSpPr>
        <p:spPr>
          <a:xfrm>
            <a:off x="6842706" y="2470214"/>
            <a:ext cx="2032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VectorDB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30422" y="4873685"/>
            <a:ext cx="6503439" cy="1369052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Memory: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 Ram. Remains Until Python running session. Remove once it stops.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Term Memory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Persistent Memory: 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communication store in disk, database or files. History remains even session ended.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 Term Memory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5FCB00-E4B9-0F0E-E5CA-977997EEAB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368605" y="1629662"/>
            <a:ext cx="6533895" cy="3694806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>
            <a:spLocks noGrp="1"/>
          </p:cNvSpPr>
          <p:nvPr>
            <p:ph type="ctrTitle"/>
          </p:nvPr>
        </p:nvSpPr>
        <p:spPr>
          <a:xfrm>
            <a:off x="656439" y="418694"/>
            <a:ext cx="11604174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How to Design Tools to define Name, DocString, Processing Logic </a:t>
            </a:r>
            <a:endParaRPr sz="4000"/>
          </a:p>
        </p:txBody>
      </p:sp>
      <p:sp>
        <p:nvSpPr>
          <p:cNvPr id="187" name="Google Shape;187;p6"/>
          <p:cNvSpPr/>
          <p:nvPr/>
        </p:nvSpPr>
        <p:spPr>
          <a:xfrm>
            <a:off x="7461251" y="2108013"/>
            <a:ext cx="4268931" cy="2233078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Play"/>
              <a:buAutoNum type="arabicPeriod"/>
            </a:pPr>
            <a:r>
              <a:rPr lang="en-US" sz="14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Tool Name/function Name: </a:t>
            </a:r>
            <a:r>
              <a:rPr lang="en-US"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relavant with tool work </a:t>
            </a: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Play"/>
              <a:buAutoNum type="arabicPeriod"/>
            </a:pPr>
            <a:r>
              <a:rPr lang="en-US" sz="14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Docstrings: </a:t>
            </a:r>
            <a:r>
              <a:rPr lang="en-US"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Arguments. detailed information of tool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Play"/>
              <a:buAutoNum type="arabicPeriod"/>
            </a:pPr>
            <a:r>
              <a:rPr lang="en-US" sz="14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Processing Logic: </a:t>
            </a:r>
            <a:r>
              <a:rPr lang="en-US"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work code</a:t>
            </a:r>
            <a:endParaRPr sz="21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538" y="1689078"/>
            <a:ext cx="6299979" cy="35102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C6EAEF-4E3D-B85E-ED23-099402CC3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830423" y="1662502"/>
            <a:ext cx="5113177" cy="2731877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>
            <a:spLocks noGrp="1"/>
          </p:cNvSpPr>
          <p:nvPr>
            <p:ph type="ctrTitle"/>
          </p:nvPr>
        </p:nvSpPr>
        <p:spPr>
          <a:xfrm>
            <a:off x="674912" y="705021"/>
            <a:ext cx="11604174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LangSmith</a:t>
            </a:r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subTitle" idx="1"/>
          </p:nvPr>
        </p:nvSpPr>
        <p:spPr>
          <a:xfrm>
            <a:off x="830423" y="1868115"/>
            <a:ext cx="4792821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A debugging and monitoring platform for AI apps built with LangChain and LangGraph.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Tracks every LLM call, tool call, input, output, and error.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Helps evaluate model performance using tests, datasets, and metrics.</a:t>
            </a:r>
            <a:endParaRPr sz="20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Provides dashboards to see latency, cost, and failures.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Improves reliability by letting developers observe and optimize agents/chains.</a:t>
            </a:r>
            <a:endParaRPr sz="20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000"/>
              <a:t>Works with any LLM, not only LangChain models.</a:t>
            </a:r>
            <a:endParaRPr sz="2100"/>
          </a:p>
        </p:txBody>
      </p:sp>
      <p:pic>
        <p:nvPicPr>
          <p:cNvPr id="196" name="Google Shape;196;p7" descr="🦜🔗 LangSmith Is for Production- Grade AI Applications | by Jennifer Fu |  Artificial Intelligence in Plain Englis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5975" y="1320801"/>
            <a:ext cx="4155437" cy="34821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C0A70D-B000-9DC0-A3D1-0F58899AB3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353732" y="1382212"/>
            <a:ext cx="5356890" cy="2191282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353732" y="243439"/>
            <a:ext cx="1014743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Chunking, CoT (Chain of Thought), Human in the Loop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353732" y="1493436"/>
            <a:ext cx="5286468" cy="237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Chunking — “Breaking large content into smaller pieces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have a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50-pages PDF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company policies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struggles to read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 into small sections (500 words / 2 pages)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(like 1–2 sentences repeated between chunks)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 prevents missing context when chunks are read separately.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53732" y="1382213"/>
            <a:ext cx="5606878" cy="2482128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353731" y="1493436"/>
            <a:ext cx="5606879" cy="208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Chunking — “Breaking large content into smaller pieces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have a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50-pages PDF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company policies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struggles to read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 into small sections (500 words / 2 pages)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(like 1–2 sentences repeated between chunks)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 prevents missing context when chunks are read separately.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108035" y="1382212"/>
            <a:ext cx="5356890" cy="2191282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108035" y="1493436"/>
            <a:ext cx="5286468" cy="237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Chunking — “Breaking large content into smaller pieces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have a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50-pages PDF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company policies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struggles to read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 into small sections (500 words / 2 pages)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(like 1–2 sentences repeated between chunks)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 prevents missing context when chunks are read separately.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108035" y="1382212"/>
            <a:ext cx="5788790" cy="2375434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6108035" y="1493436"/>
            <a:ext cx="5702164" cy="22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 (Chain of Thought) — “Step-by-step reasoning”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 means breaking a complex problem into smaller reasoning steps.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math problem → The AI solves it step by step using rules like BODMAS instead of jumping directly to the answer.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step-by-step reasoning reduces hallucinations because the AI follows logic, not guesses.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gives more accurate and reliable answers by showing the reasoning path.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257281" y="3975564"/>
            <a:ext cx="8765837" cy="1598759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257281" y="4086788"/>
            <a:ext cx="876583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in the Loop — “A human supervises or approves AI work”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company uses AI to screen job applications.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ranks the candidates. But a human manager makes the final decision, ensuring fairness and accuracy.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writes product descriptions → a human editor approves before publishing.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1FD6A5-7CFA-17C7-2BAA-600D214221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230629" y="1756023"/>
            <a:ext cx="7787956" cy="2279643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>
            <a:spLocks noGrp="1"/>
          </p:cNvSpPr>
          <p:nvPr>
            <p:ph type="ctrTitle"/>
          </p:nvPr>
        </p:nvSpPr>
        <p:spPr>
          <a:xfrm>
            <a:off x="307975" y="-54555"/>
            <a:ext cx="11604174" cy="90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Agent vs Multi Agent?</a:t>
            </a:r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227181" y="1839536"/>
            <a:ext cx="7852949" cy="190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/>
              <a:t>Single Agent: </a:t>
            </a:r>
            <a:r>
              <a:rPr lang="en-US" sz="1200"/>
              <a:t>A </a:t>
            </a:r>
            <a:r>
              <a:rPr lang="en-US" sz="1200" b="1"/>
              <a:t>Single Agent</a:t>
            </a:r>
            <a:r>
              <a:rPr lang="en-US" sz="1200"/>
              <a:t> is </a:t>
            </a:r>
            <a:r>
              <a:rPr lang="en-US" sz="1200" b="1"/>
              <a:t>one AI agent</a:t>
            </a:r>
            <a:r>
              <a:rPr lang="en-US" sz="1200"/>
              <a:t> that handles the entire task from start to finish.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b="1"/>
              <a:t>Why it’s useful</a:t>
            </a:r>
            <a:endParaRPr/>
          </a:p>
          <a:p>
            <a:pPr marL="171450" lvl="0" indent="-1714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Simple setup</a:t>
            </a:r>
            <a:endParaRPr/>
          </a:p>
          <a:p>
            <a:pPr marL="171450" lvl="0" indent="-17145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Good for small or straightforward tasks</a:t>
            </a:r>
            <a:endParaRPr/>
          </a:p>
          <a:p>
            <a:pPr marL="171450" lvl="0" indent="-17145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Less coordination required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b="1"/>
              <a:t>Limitations</a:t>
            </a:r>
            <a:endParaRPr/>
          </a:p>
          <a:p>
            <a:pPr marL="171450" lvl="0" indent="-17145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One agent tries to do </a:t>
            </a:r>
            <a:r>
              <a:rPr lang="en-US" sz="1200" b="1"/>
              <a:t>everything</a:t>
            </a:r>
            <a:r>
              <a:rPr lang="en-US" sz="1200"/>
              <a:t> → can become slow or inaccurate</a:t>
            </a:r>
            <a:endParaRPr/>
          </a:p>
          <a:p>
            <a:pPr marL="171450" lvl="0" indent="-17145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Harder to scale</a:t>
            </a:r>
            <a:endParaRPr/>
          </a:p>
          <a:p>
            <a:pPr marL="171450" lvl="0" indent="-17145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Not good for complex workflows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  <p:sp>
        <p:nvSpPr>
          <p:cNvPr id="219" name="Google Shape;219;p9" descr="Single-Agent vs. Multi-Agent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9" descr="Single-Agent vs. Multi-Ag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6970" y="1003533"/>
            <a:ext cx="4253964" cy="425396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 flipH="1">
            <a:off x="227181" y="678876"/>
            <a:ext cx="1102824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— Short Definition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AI system that can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think, decide, and act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tools to complete a task.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query or task.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most relevant agent or tool to handle it.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LLM to generate the final response based on the chosen action.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27181" y="4169303"/>
            <a:ext cx="7787956" cy="2557129"/>
          </a:xfrm>
          <a:prstGeom prst="rect">
            <a:avLst/>
          </a:prstGeom>
          <a:solidFill>
            <a:srgbClr val="D8F3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227180" y="4200169"/>
            <a:ext cx="7923289" cy="25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Multi-Agent — Short Definition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Multi-Agent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several specialized agents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with a specific role, working together like a team.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it’s useful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agent focuses on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skill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(research, planning, writing, checking)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hallucination and tasks split across agents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like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microservices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easy to add or remove agents Changes don’t break other agents → flexible and scalable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Multi-Agent is good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or complex tasks no longer depend on </a:t>
            </a: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overloaded agent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69E0C3-A3B8-1E41-5448-A8F1A1D661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>
            <a:spLocks noGrp="1"/>
          </p:cNvSpPr>
          <p:nvPr>
            <p:ph type="subTitle" idx="1"/>
          </p:nvPr>
        </p:nvSpPr>
        <p:spPr>
          <a:xfrm>
            <a:off x="-260840" y="296130"/>
            <a:ext cx="11163301" cy="47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WHY AI Agent? Why Not Regular ML Process</a:t>
            </a:r>
            <a:endParaRPr/>
          </a:p>
        </p:txBody>
      </p:sp>
      <p:graphicFrame>
        <p:nvGraphicFramePr>
          <p:cNvPr id="229" name="Google Shape;229;p10"/>
          <p:cNvGraphicFramePr/>
          <p:nvPr/>
        </p:nvGraphicFramePr>
        <p:xfrm>
          <a:off x="864577" y="159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{E993F030-7346-4CB9-9DCC-4B1F7B28DE53}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Feature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AI Agent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Regular ML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Purpose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Solve complex tasks automatically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Perform one specific task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Reasoning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Can think step by step (Chain of Thought)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Gives direct output, no reasoning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Tools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Can use APIs, search engines, calculators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Limited to what it was trained 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Decision Making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Chooses actions based on context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Static output, no choice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Flexibility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Can combine skills and add new ones easily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Must retrain or redesign for new tasks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Interaction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Can communicate, follow instructions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Just outputs predictions or classifications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A8BFC9-9645-8B68-205F-A99582063D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/>
        </p:nvSpPr>
        <p:spPr>
          <a:xfrm>
            <a:off x="366465" y="255578"/>
            <a:ext cx="11670204" cy="53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Prompting, Hallucination, LLM Poisoning  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66465" y="791308"/>
            <a:ext cx="515522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Prompting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Giving instructions or questions to an AI model to get a response.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Important: The quality of the output depends heavily on how you prompt the AI. Good prompts = accurate, relevant results.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Avoid: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Unclear instructions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Ambiguous wording (conflicting)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 much or too little context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940668" y="925095"/>
            <a:ext cx="6251331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Hallucination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When an AI makes up facts or information that are not true. Made up it’s own answer.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Important: Hallucinations can lead to wrong or misleading answers, especially in critical tasks (medical, legal, financial).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Avoid: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Relying solely on AI for facts without verification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Asking AI outside its knowledge domain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Happen: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Ambiguous instruction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accurate information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prompt restriction. Overgeneralization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Asking about topics outside of LLM knowledge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89437" y="4220138"/>
            <a:ext cx="1034268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LLM Poisoning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Meaning: When someone gives bad or tricky instructions to an AI, it can give wrong or unsafe answers.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matters: AI can mislead people or make mistakes if poisoned.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avoid: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Accepting false or harmful instructions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Letting users give misleading prompts repeatedly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checking the AI’s answers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0B37F9-160E-94D1-E7BE-09C5A8AAAC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it-IT"/>
              <a:t>Khan Md Shibli Nomani -- AI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1317</Words>
  <Application>Microsoft Office PowerPoint</Application>
  <PresentationFormat>Widescreen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Play</vt:lpstr>
      <vt:lpstr>Arial</vt:lpstr>
      <vt:lpstr>Office Theme</vt:lpstr>
      <vt:lpstr>Langchain and Langgraph</vt:lpstr>
      <vt:lpstr>Langchain</vt:lpstr>
      <vt:lpstr>LangGraph</vt:lpstr>
      <vt:lpstr>Node &amp; Edges</vt:lpstr>
      <vt:lpstr>State, StateGraph, MemorySaver, Start, End, Tools</vt:lpstr>
      <vt:lpstr>How to Design Tools to define Name, DocString, Processing Logic </vt:lpstr>
      <vt:lpstr>LangSmith</vt:lpstr>
      <vt:lpstr>PowerPoint Presentation</vt:lpstr>
      <vt:lpstr>Agent vs Multi Agent?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Shibli Nomani</dc:creator>
  <cp:lastModifiedBy>Shibli Nomani</cp:lastModifiedBy>
  <cp:revision>3</cp:revision>
  <dcterms:created xsi:type="dcterms:W3CDTF">2025-11-24T17:11:45Z</dcterms:created>
  <dcterms:modified xsi:type="dcterms:W3CDTF">2025-11-25T16:24:47Z</dcterms:modified>
</cp:coreProperties>
</file>