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Play"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jzWFwNcr6W32hcOAxlnkDUcgow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ABC42B-86BA-45EF-92E6-30905D7FB77D}">
  <a:tblStyle styleId="{86ABC42B-86BA-45EF-92E6-30905D7FB77D}" styleName="Table_0">
    <a:wholeTbl>
      <a:tcTxStyle b="off" i="off">
        <a:font>
          <a:latin typeface="Aptos"/>
          <a:ea typeface="Aptos"/>
          <a:cs typeface="Aptos"/>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12700" cap="flat" cmpd="sng">
              <a:solidFill>
                <a:schemeClr val="accent4"/>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4">
              <a:alpha val="20000"/>
            </a:schemeClr>
          </a:solidFill>
        </a:fill>
      </a:tcStyle>
    </a:band1H>
    <a:band2H>
      <a:tcTxStyle b="off" i="off"/>
      <a:tcStyle>
        <a:tcBdr/>
      </a:tcStyle>
    </a:band2H>
    <a:band1V>
      <a:tcTxStyle b="off" i="off"/>
      <a:tcStyle>
        <a:tcBdr/>
        <a:fill>
          <a:solidFill>
            <a:schemeClr val="accent4">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4"/>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accent4"/>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36EDD7AC-FA13-4A1A-9071-3E8B49EB11A8}"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b345adf54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3b345adf54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345adf54c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3b345adf54c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b345adf54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b345adf54c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b345adf54c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3b345adf54c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345adf54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g3b345adf54c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345adf54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b345adf54c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b345adf54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3b345adf54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1" name="Google Shape;3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3" name="Google Shape;53;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4" name="Google Shape;5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
        <p:cNvGrpSpPr/>
        <p:nvPr/>
      </p:nvGrpSpPr>
      <p:grpSpPr>
        <a:xfrm>
          <a:off x="0" y="0"/>
          <a:ext cx="0" cy="0"/>
          <a:chOff x="0" y="0"/>
          <a:chExt cx="0" cy="0"/>
        </a:xfrm>
      </p:grpSpPr>
      <p:sp>
        <p:nvSpPr>
          <p:cNvPr id="58" name="Google Shape;58;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4"/>
          <p:cNvSpPr>
            <a:spLocks noGrp="1"/>
          </p:cNvSpPr>
          <p:nvPr>
            <p:ph type="pic" idx="2"/>
          </p:nvPr>
        </p:nvSpPr>
        <p:spPr>
          <a:xfrm>
            <a:off x="5183188" y="987425"/>
            <a:ext cx="6172200" cy="4873625"/>
          </a:xfrm>
          <a:prstGeom prst="rect">
            <a:avLst/>
          </a:prstGeom>
          <a:noFill/>
          <a:ln>
            <a:noFill/>
          </a:ln>
        </p:spPr>
      </p:sp>
      <p:sp>
        <p:nvSpPr>
          <p:cNvPr id="60" name="Google Shape;60;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4"/>
        <p:cNvGrpSpPr/>
        <p:nvPr/>
      </p:nvGrpSpPr>
      <p:grpSpPr>
        <a:xfrm>
          <a:off x="0" y="0"/>
          <a:ext cx="0" cy="0"/>
          <a:chOff x="0" y="0"/>
          <a:chExt cx="0" cy="0"/>
        </a:xfrm>
      </p:grpSpPr>
      <p:sp>
        <p:nvSpPr>
          <p:cNvPr id="65" name="Google Shape;6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n-US"/>
              <a:t>RAG, LLM, API</a:t>
            </a:r>
            <a:endParaRPr/>
          </a:p>
        </p:txBody>
      </p:sp>
      <p:sp>
        <p:nvSpPr>
          <p:cNvPr id="81" name="Google Shape;81;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b="1"/>
              <a:t>Module – 2</a:t>
            </a:r>
            <a:endParaRPr/>
          </a:p>
          <a:p>
            <a:pPr marL="0" lvl="0" indent="0" algn="l" rtl="0">
              <a:lnSpc>
                <a:spcPct val="90000"/>
              </a:lnSpc>
              <a:spcBef>
                <a:spcPts val="1000"/>
              </a:spcBef>
              <a:spcAft>
                <a:spcPts val="0"/>
              </a:spcAft>
              <a:buClr>
                <a:schemeClr val="dk1"/>
              </a:buClr>
              <a:buSzPts val="2400"/>
              <a:buNone/>
            </a:pPr>
            <a:r>
              <a:rPr lang="en-US"/>
              <a:t>Khan Md Shibli Nomani</a:t>
            </a:r>
            <a:endParaRPr/>
          </a:p>
          <a:p>
            <a:pPr marL="0" lvl="0" indent="0" algn="l" rtl="0">
              <a:lnSpc>
                <a:spcPct val="90000"/>
              </a:lnSpc>
              <a:spcBef>
                <a:spcPts val="1000"/>
              </a:spcBef>
              <a:spcAft>
                <a:spcPts val="0"/>
              </a:spcAft>
              <a:buClr>
                <a:schemeClr val="dk1"/>
              </a:buClr>
              <a:buSzPts val="2400"/>
              <a:buNone/>
            </a:pPr>
            <a:r>
              <a:rPr lang="en-US" b="1"/>
              <a:t>Date: 24-12-2025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7"/>
          <p:cNvSpPr/>
          <p:nvPr/>
        </p:nvSpPr>
        <p:spPr>
          <a:xfrm>
            <a:off x="830423" y="1662502"/>
            <a:ext cx="5113177" cy="2937490"/>
          </a:xfrm>
          <a:prstGeom prst="rect">
            <a:avLst/>
          </a:prstGeom>
          <a:solidFill>
            <a:srgbClr val="D8F3F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 name="Google Shape;87;p27"/>
          <p:cNvSpPr txBox="1">
            <a:spLocks noGrp="1"/>
          </p:cNvSpPr>
          <p:nvPr>
            <p:ph type="ctrTitle"/>
          </p:nvPr>
        </p:nvSpPr>
        <p:spPr>
          <a:xfrm>
            <a:off x="587826" y="734992"/>
            <a:ext cx="11604174" cy="90672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a:t>RAG (Retrieval Augmented Generation)?</a:t>
            </a:r>
            <a:endParaRPr/>
          </a:p>
        </p:txBody>
      </p:sp>
      <p:sp>
        <p:nvSpPr>
          <p:cNvPr id="88" name="Google Shape;88;p27"/>
          <p:cNvSpPr txBox="1">
            <a:spLocks noGrp="1"/>
          </p:cNvSpPr>
          <p:nvPr>
            <p:ph type="subTitle" idx="1"/>
          </p:nvPr>
        </p:nvSpPr>
        <p:spPr>
          <a:xfrm>
            <a:off x="830423" y="1868115"/>
            <a:ext cx="4792821" cy="252626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t>1. RAG Database (Vector Database)</a:t>
            </a:r>
            <a:endParaRPr/>
          </a:p>
          <a:p>
            <a:pPr marL="0" lvl="0" indent="0" algn="l" rtl="0">
              <a:lnSpc>
                <a:spcPct val="90000"/>
              </a:lnSpc>
              <a:spcBef>
                <a:spcPts val="1000"/>
              </a:spcBef>
              <a:spcAft>
                <a:spcPts val="0"/>
              </a:spcAft>
              <a:buClr>
                <a:schemeClr val="dk1"/>
              </a:buClr>
              <a:buSzPts val="2000"/>
              <a:buNone/>
            </a:pPr>
            <a:r>
              <a:rPr lang="en-US" sz="2000"/>
              <a:t>	ChromaDB, DuckDB, TinyDB, Pinecone</a:t>
            </a:r>
            <a:endParaRPr/>
          </a:p>
          <a:p>
            <a:pPr marL="457200" lvl="0" indent="-457200" algn="l" rtl="0">
              <a:lnSpc>
                <a:spcPct val="90000"/>
              </a:lnSpc>
              <a:spcBef>
                <a:spcPts val="1000"/>
              </a:spcBef>
              <a:spcAft>
                <a:spcPts val="0"/>
              </a:spcAft>
              <a:buClr>
                <a:schemeClr val="dk1"/>
              </a:buClr>
              <a:buSzPts val="2000"/>
              <a:buAutoNum type="arabicPeriod" startAt="2"/>
            </a:pPr>
            <a:r>
              <a:rPr lang="en-US" sz="2000"/>
              <a:t>Knowledge Source. Task Specific</a:t>
            </a:r>
            <a:endParaRPr/>
          </a:p>
          <a:p>
            <a:pPr marL="457200" lvl="0" indent="-457200" algn="l" rtl="0">
              <a:lnSpc>
                <a:spcPct val="90000"/>
              </a:lnSpc>
              <a:spcBef>
                <a:spcPts val="1000"/>
              </a:spcBef>
              <a:spcAft>
                <a:spcPts val="0"/>
              </a:spcAft>
              <a:buClr>
                <a:schemeClr val="dk1"/>
              </a:buClr>
              <a:buSzPts val="2000"/>
              <a:buAutoNum type="arabicPeriod" startAt="2"/>
            </a:pPr>
            <a:r>
              <a:rPr lang="en-US" sz="2000"/>
              <a:t>Example: Business Related Query</a:t>
            </a:r>
            <a:endParaRPr/>
          </a:p>
          <a:p>
            <a:pPr marL="457200" lvl="0" indent="-457200" algn="l" rtl="0">
              <a:lnSpc>
                <a:spcPct val="90000"/>
              </a:lnSpc>
              <a:spcBef>
                <a:spcPts val="1000"/>
              </a:spcBef>
              <a:spcAft>
                <a:spcPts val="0"/>
              </a:spcAft>
              <a:buClr>
                <a:schemeClr val="dk1"/>
              </a:buClr>
              <a:buSzPts val="2000"/>
              <a:buAutoNum type="arabicPeriod" startAt="2"/>
            </a:pPr>
            <a:r>
              <a:rPr lang="en-US" sz="2000"/>
              <a:t>Apply Cosine Similarity</a:t>
            </a:r>
            <a:endParaRPr/>
          </a:p>
          <a:p>
            <a:pPr marL="457200" lvl="0" indent="-339725" algn="l" rtl="0">
              <a:lnSpc>
                <a:spcPct val="90000"/>
              </a:lnSpc>
              <a:spcBef>
                <a:spcPts val="1000"/>
              </a:spcBef>
              <a:spcAft>
                <a:spcPts val="0"/>
              </a:spcAft>
              <a:buClr>
                <a:schemeClr val="dk1"/>
              </a:buClr>
              <a:buSzPts val="2000"/>
              <a:buNone/>
            </a:pPr>
            <a:endParaRPr sz="2000"/>
          </a:p>
        </p:txBody>
      </p:sp>
      <p:sp>
        <p:nvSpPr>
          <p:cNvPr id="89" name="Google Shape;89;p27"/>
          <p:cNvSpPr/>
          <p:nvPr/>
        </p:nvSpPr>
        <p:spPr>
          <a:xfrm>
            <a:off x="8039878" y="1223963"/>
            <a:ext cx="1371600"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Query</a:t>
            </a:r>
            <a:endParaRPr sz="1400" b="0" i="0" u="none" strike="noStrike" cap="none">
              <a:solidFill>
                <a:srgbClr val="000000"/>
              </a:solidFill>
              <a:latin typeface="Arial"/>
              <a:ea typeface="Arial"/>
              <a:cs typeface="Arial"/>
              <a:sym typeface="Arial"/>
            </a:endParaRPr>
          </a:p>
        </p:txBody>
      </p:sp>
      <p:sp>
        <p:nvSpPr>
          <p:cNvPr id="90" name="Google Shape;90;p27"/>
          <p:cNvSpPr/>
          <p:nvPr/>
        </p:nvSpPr>
        <p:spPr>
          <a:xfrm>
            <a:off x="8039878" y="2368375"/>
            <a:ext cx="1371600"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Embedding</a:t>
            </a:r>
            <a:endParaRPr sz="1400" b="0" i="0" u="none" strike="noStrike" cap="none">
              <a:solidFill>
                <a:srgbClr val="000000"/>
              </a:solidFill>
              <a:latin typeface="Arial"/>
              <a:ea typeface="Arial"/>
              <a:cs typeface="Arial"/>
              <a:sym typeface="Arial"/>
            </a:endParaRPr>
          </a:p>
        </p:txBody>
      </p:sp>
      <p:sp>
        <p:nvSpPr>
          <p:cNvPr id="91" name="Google Shape;91;p27"/>
          <p:cNvSpPr/>
          <p:nvPr/>
        </p:nvSpPr>
        <p:spPr>
          <a:xfrm>
            <a:off x="9866702" y="2368374"/>
            <a:ext cx="830426"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RAG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Data</a:t>
            </a:r>
            <a:endParaRPr sz="1400" b="0" i="0" u="none" strike="noStrike" cap="none">
              <a:solidFill>
                <a:srgbClr val="000000"/>
              </a:solidFill>
              <a:latin typeface="Arial"/>
              <a:ea typeface="Arial"/>
              <a:cs typeface="Arial"/>
              <a:sym typeface="Arial"/>
            </a:endParaRPr>
          </a:p>
        </p:txBody>
      </p:sp>
      <p:sp>
        <p:nvSpPr>
          <p:cNvPr id="92" name="Google Shape;92;p27"/>
          <p:cNvSpPr/>
          <p:nvPr/>
        </p:nvSpPr>
        <p:spPr>
          <a:xfrm>
            <a:off x="8021219" y="4569391"/>
            <a:ext cx="1371600"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Response</a:t>
            </a:r>
            <a:endParaRPr sz="1400" b="0" i="0" u="none" strike="noStrike" cap="none">
              <a:solidFill>
                <a:srgbClr val="000000"/>
              </a:solidFill>
              <a:latin typeface="Arial"/>
              <a:ea typeface="Arial"/>
              <a:cs typeface="Arial"/>
              <a:sym typeface="Arial"/>
            </a:endParaRPr>
          </a:p>
        </p:txBody>
      </p:sp>
      <p:cxnSp>
        <p:nvCxnSpPr>
          <p:cNvPr id="93" name="Google Shape;93;p27"/>
          <p:cNvCxnSpPr>
            <a:stCxn id="89" idx="2"/>
            <a:endCxn id="90" idx="0"/>
          </p:cNvCxnSpPr>
          <p:nvPr/>
        </p:nvCxnSpPr>
        <p:spPr>
          <a:xfrm>
            <a:off x="8725678" y="1877106"/>
            <a:ext cx="0" cy="491400"/>
          </a:xfrm>
          <a:prstGeom prst="straightConnector1">
            <a:avLst/>
          </a:prstGeom>
          <a:noFill/>
          <a:ln w="19050" cap="flat" cmpd="sng">
            <a:solidFill>
              <a:schemeClr val="accent1"/>
            </a:solidFill>
            <a:prstDash val="solid"/>
            <a:miter lim="800000"/>
            <a:headEnd type="none" w="sm" len="sm"/>
            <a:tailEnd type="triangle" w="med" len="med"/>
          </a:ln>
        </p:spPr>
      </p:cxnSp>
      <p:cxnSp>
        <p:nvCxnSpPr>
          <p:cNvPr id="94" name="Google Shape;94;p27"/>
          <p:cNvCxnSpPr>
            <a:endCxn id="92" idx="0"/>
          </p:cNvCxnSpPr>
          <p:nvPr/>
        </p:nvCxnSpPr>
        <p:spPr>
          <a:xfrm>
            <a:off x="8707019" y="3975091"/>
            <a:ext cx="0" cy="594300"/>
          </a:xfrm>
          <a:prstGeom prst="straightConnector1">
            <a:avLst/>
          </a:prstGeom>
          <a:noFill/>
          <a:ln w="19050" cap="flat" cmpd="sng">
            <a:solidFill>
              <a:schemeClr val="accent1"/>
            </a:solidFill>
            <a:prstDash val="solid"/>
            <a:miter lim="800000"/>
            <a:headEnd type="none" w="sm" len="sm"/>
            <a:tailEnd type="triangle" w="med" len="med"/>
          </a:ln>
        </p:spPr>
      </p:cxnSp>
      <p:cxnSp>
        <p:nvCxnSpPr>
          <p:cNvPr id="95" name="Google Shape;95;p27"/>
          <p:cNvCxnSpPr/>
          <p:nvPr/>
        </p:nvCxnSpPr>
        <p:spPr>
          <a:xfrm rot="10800000" flipH="1">
            <a:off x="9411478" y="2508331"/>
            <a:ext cx="455224"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96" name="Google Shape;96;p27"/>
          <p:cNvCxnSpPr/>
          <p:nvPr/>
        </p:nvCxnSpPr>
        <p:spPr>
          <a:xfrm rot="10800000">
            <a:off x="9411478" y="2866151"/>
            <a:ext cx="455224" cy="0"/>
          </a:xfrm>
          <a:prstGeom prst="straightConnector1">
            <a:avLst/>
          </a:prstGeom>
          <a:noFill/>
          <a:ln w="19050" cap="flat" cmpd="sng">
            <a:solidFill>
              <a:schemeClr val="accent1"/>
            </a:solidFill>
            <a:prstDash val="solid"/>
            <a:miter lim="800000"/>
            <a:headEnd type="none" w="sm" len="sm"/>
            <a:tailEnd type="triangle" w="med" len="med"/>
          </a:ln>
        </p:spPr>
      </p:cxnSp>
      <p:sp>
        <p:nvSpPr>
          <p:cNvPr id="97" name="Google Shape;97;p27"/>
          <p:cNvSpPr txBox="1"/>
          <p:nvPr/>
        </p:nvSpPr>
        <p:spPr>
          <a:xfrm rot="-3404060">
            <a:off x="9004572" y="1355406"/>
            <a:ext cx="186301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Cosine Similarity</a:t>
            </a:r>
            <a:endParaRPr sz="1400" b="0" i="0" u="none" strike="noStrike" cap="none">
              <a:solidFill>
                <a:srgbClr val="000000"/>
              </a:solidFill>
              <a:latin typeface="Arial"/>
              <a:ea typeface="Arial"/>
              <a:cs typeface="Arial"/>
              <a:sym typeface="Arial"/>
            </a:endParaRPr>
          </a:p>
        </p:txBody>
      </p:sp>
      <p:sp>
        <p:nvSpPr>
          <p:cNvPr id="98" name="Google Shape;98;p27"/>
          <p:cNvSpPr/>
          <p:nvPr/>
        </p:nvSpPr>
        <p:spPr>
          <a:xfrm>
            <a:off x="8115994" y="3533293"/>
            <a:ext cx="1182050"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LLM</a:t>
            </a:r>
            <a:endParaRPr sz="1400" b="0" i="0" u="none" strike="noStrike" cap="none">
              <a:solidFill>
                <a:srgbClr val="000000"/>
              </a:solidFill>
              <a:latin typeface="Arial"/>
              <a:ea typeface="Arial"/>
              <a:cs typeface="Arial"/>
              <a:sym typeface="Arial"/>
            </a:endParaRPr>
          </a:p>
        </p:txBody>
      </p:sp>
      <p:cxnSp>
        <p:nvCxnSpPr>
          <p:cNvPr id="99" name="Google Shape;99;p27"/>
          <p:cNvCxnSpPr/>
          <p:nvPr/>
        </p:nvCxnSpPr>
        <p:spPr>
          <a:xfrm>
            <a:off x="8721013" y="3021517"/>
            <a:ext cx="0" cy="491269"/>
          </a:xfrm>
          <a:prstGeom prst="straightConnector1">
            <a:avLst/>
          </a:prstGeom>
          <a:noFill/>
          <a:ln w="19050" cap="flat" cmpd="sng">
            <a:solidFill>
              <a:schemeClr val="accent1"/>
            </a:solidFill>
            <a:prstDash val="solid"/>
            <a:miter lim="800000"/>
            <a:headEnd type="none" w="sm" len="sm"/>
            <a:tailEnd type="triangle" w="med" len="med"/>
          </a:ln>
        </p:spPr>
      </p:cxnSp>
      <p:sp>
        <p:nvSpPr>
          <p:cNvPr id="100" name="Google Shape;100;p27"/>
          <p:cNvSpPr txBox="1"/>
          <p:nvPr/>
        </p:nvSpPr>
        <p:spPr>
          <a:xfrm>
            <a:off x="9306327" y="3092738"/>
            <a:ext cx="195117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Knowledge Souce</a:t>
            </a:r>
            <a:endParaRPr sz="1800" b="0" i="0" u="none" strike="noStrike" cap="none">
              <a:solidFill>
                <a:schemeClr val="dk1"/>
              </a:solidFill>
              <a:latin typeface="Arial"/>
              <a:ea typeface="Arial"/>
              <a:cs typeface="Arial"/>
              <a:sym typeface="Arial"/>
            </a:endParaRPr>
          </a:p>
        </p:txBody>
      </p:sp>
      <p:sp>
        <p:nvSpPr>
          <p:cNvPr id="101" name="Google Shape;101;p27"/>
          <p:cNvSpPr/>
          <p:nvPr/>
        </p:nvSpPr>
        <p:spPr>
          <a:xfrm>
            <a:off x="830423" y="4849747"/>
            <a:ext cx="6503439" cy="593260"/>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Retrieves relevant information from Vector Database.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3"/>
          <p:cNvSpPr txBox="1">
            <a:spLocks noGrp="1"/>
          </p:cNvSpPr>
          <p:nvPr>
            <p:ph type="ctrTitle"/>
          </p:nvPr>
        </p:nvSpPr>
        <p:spPr>
          <a:xfrm>
            <a:off x="372533" y="102959"/>
            <a:ext cx="11604174" cy="90672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a:t>Simple RAG vs RAG Agent</a:t>
            </a:r>
            <a:endParaRPr/>
          </a:p>
        </p:txBody>
      </p:sp>
      <p:sp>
        <p:nvSpPr>
          <p:cNvPr id="107" name="Google Shape;107;p13"/>
          <p:cNvSpPr/>
          <p:nvPr/>
        </p:nvSpPr>
        <p:spPr>
          <a:xfrm>
            <a:off x="771129" y="1728533"/>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Query</a:t>
            </a:r>
            <a:endParaRPr sz="1400" b="0" i="0" u="none" strike="noStrike" cap="none">
              <a:solidFill>
                <a:srgbClr val="000000"/>
              </a:solidFill>
              <a:latin typeface="Arial"/>
              <a:ea typeface="Arial"/>
              <a:cs typeface="Arial"/>
              <a:sym typeface="Arial"/>
            </a:endParaRPr>
          </a:p>
        </p:txBody>
      </p:sp>
      <p:cxnSp>
        <p:nvCxnSpPr>
          <p:cNvPr id="108" name="Google Shape;108;p13"/>
          <p:cNvCxnSpPr/>
          <p:nvPr/>
        </p:nvCxnSpPr>
        <p:spPr>
          <a:xfrm rot="10800000" flipH="1">
            <a:off x="2051565" y="1970892"/>
            <a:ext cx="455224" cy="1"/>
          </a:xfrm>
          <a:prstGeom prst="straightConnector1">
            <a:avLst/>
          </a:prstGeom>
          <a:noFill/>
          <a:ln w="19050" cap="flat" cmpd="sng">
            <a:solidFill>
              <a:schemeClr val="accent1"/>
            </a:solidFill>
            <a:prstDash val="solid"/>
            <a:miter lim="800000"/>
            <a:headEnd type="none" w="sm" len="sm"/>
            <a:tailEnd type="triangle" w="med" len="med"/>
          </a:ln>
        </p:spPr>
      </p:cxnSp>
      <p:sp>
        <p:nvSpPr>
          <p:cNvPr id="109" name="Google Shape;109;p13"/>
          <p:cNvSpPr txBox="1"/>
          <p:nvPr/>
        </p:nvSpPr>
        <p:spPr>
          <a:xfrm rot="-2361782">
            <a:off x="3872706" y="1162088"/>
            <a:ext cx="90840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Cosine Similarity</a:t>
            </a:r>
            <a:endParaRPr sz="1400" b="0" i="0" u="none" strike="noStrike" cap="none">
              <a:solidFill>
                <a:srgbClr val="000000"/>
              </a:solidFill>
              <a:latin typeface="Arial"/>
              <a:ea typeface="Arial"/>
              <a:cs typeface="Arial"/>
              <a:sym typeface="Arial"/>
            </a:endParaRPr>
          </a:p>
        </p:txBody>
      </p:sp>
      <p:sp>
        <p:nvSpPr>
          <p:cNvPr id="110" name="Google Shape;110;p13"/>
          <p:cNvSpPr txBox="1"/>
          <p:nvPr/>
        </p:nvSpPr>
        <p:spPr>
          <a:xfrm>
            <a:off x="8101255" y="2382127"/>
            <a:ext cx="195117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Knowledge Source</a:t>
            </a:r>
            <a:endParaRPr sz="1400" b="0" i="0" u="none" strike="noStrike" cap="none">
              <a:solidFill>
                <a:schemeClr val="dk1"/>
              </a:solidFill>
              <a:latin typeface="Arial"/>
              <a:ea typeface="Arial"/>
              <a:cs typeface="Arial"/>
              <a:sym typeface="Arial"/>
            </a:endParaRPr>
          </a:p>
        </p:txBody>
      </p:sp>
      <p:sp>
        <p:nvSpPr>
          <p:cNvPr id="111" name="Google Shape;111;p13"/>
          <p:cNvSpPr/>
          <p:nvPr/>
        </p:nvSpPr>
        <p:spPr>
          <a:xfrm>
            <a:off x="698224" y="4531575"/>
            <a:ext cx="11960400" cy="2351400"/>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 name="Google Shape;112;p13"/>
          <p:cNvSpPr txBox="1"/>
          <p:nvPr/>
        </p:nvSpPr>
        <p:spPr>
          <a:xfrm>
            <a:off x="698235" y="4588482"/>
            <a:ext cx="4681200" cy="160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Simple RAG</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User sends a simple query</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System performs similarity search in the vector database</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Retrieved documents are passed to the LLM</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LLM generates the final response</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 name="Google Shape;113;p13"/>
          <p:cNvSpPr txBox="1"/>
          <p:nvPr/>
        </p:nvSpPr>
        <p:spPr>
          <a:xfrm>
            <a:off x="6030335" y="4587792"/>
            <a:ext cx="60930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RAG Agent</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User sends a query</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The agent performs reasoning first</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Arial"/>
                <a:ea typeface="Arial"/>
                <a:cs typeface="Arial"/>
                <a:sym typeface="Arial"/>
              </a:rPr>
              <a:t>→ decides whether it should retrieve from the vector DB</a:t>
            </a:r>
            <a:br>
              <a:rPr lang="en-US" sz="1400" b="0" i="0" u="none" strike="noStrike" cap="none">
                <a:solidFill>
                  <a:srgbClr val="000000"/>
                </a:solidFill>
                <a:latin typeface="Arial"/>
                <a:ea typeface="Arial"/>
                <a:cs typeface="Arial"/>
                <a:sym typeface="Arial"/>
              </a:rPr>
            </a:br>
            <a:r>
              <a:rPr lang="en-US" sz="1400" b="0" i="0" u="none" strike="noStrike" cap="none">
                <a:solidFill>
                  <a:srgbClr val="000000"/>
                </a:solidFill>
                <a:latin typeface="Arial"/>
                <a:ea typeface="Arial"/>
                <a:cs typeface="Arial"/>
                <a:sym typeface="Arial"/>
              </a:rPr>
              <a:t>→ or call another tool/agent (web search, SQL, API)</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If it chooses vector DB → it retrieves documents</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LLM (as part of the agent) processes all gathered info</a:t>
            </a:r>
            <a:endParaRPr/>
          </a:p>
          <a:p>
            <a:pPr marL="457200"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Agent generates the final, processed reply</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 name="Google Shape;114;p13"/>
          <p:cNvSpPr/>
          <p:nvPr/>
        </p:nvSpPr>
        <p:spPr>
          <a:xfrm>
            <a:off x="2478284" y="1717225"/>
            <a:ext cx="1478080"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Embedding</a:t>
            </a:r>
            <a:endParaRPr sz="1400" b="0" i="0" u="none" strike="noStrike" cap="none">
              <a:solidFill>
                <a:srgbClr val="000000"/>
              </a:solidFill>
              <a:latin typeface="Arial"/>
              <a:ea typeface="Arial"/>
              <a:cs typeface="Arial"/>
              <a:sym typeface="Arial"/>
            </a:endParaRPr>
          </a:p>
        </p:txBody>
      </p:sp>
      <p:sp>
        <p:nvSpPr>
          <p:cNvPr id="115" name="Google Shape;115;p13"/>
          <p:cNvSpPr/>
          <p:nvPr/>
        </p:nvSpPr>
        <p:spPr>
          <a:xfrm>
            <a:off x="4409755" y="1626379"/>
            <a:ext cx="830426"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RAG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Data</a:t>
            </a:r>
            <a:endParaRPr sz="1400" b="0" i="0" u="none" strike="noStrike" cap="none">
              <a:solidFill>
                <a:srgbClr val="000000"/>
              </a:solidFill>
              <a:latin typeface="Arial"/>
              <a:ea typeface="Arial"/>
              <a:cs typeface="Arial"/>
              <a:sym typeface="Arial"/>
            </a:endParaRPr>
          </a:p>
        </p:txBody>
      </p:sp>
      <p:cxnSp>
        <p:nvCxnSpPr>
          <p:cNvPr id="116" name="Google Shape;116;p13"/>
          <p:cNvCxnSpPr/>
          <p:nvPr/>
        </p:nvCxnSpPr>
        <p:spPr>
          <a:xfrm rot="10800000" flipH="1">
            <a:off x="3947311" y="1952949"/>
            <a:ext cx="455224"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117" name="Google Shape;117;p13"/>
          <p:cNvCxnSpPr/>
          <p:nvPr/>
        </p:nvCxnSpPr>
        <p:spPr>
          <a:xfrm rot="10800000" flipH="1">
            <a:off x="5224608" y="1964258"/>
            <a:ext cx="455224"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118" name="Google Shape;118;p13"/>
          <p:cNvCxnSpPr/>
          <p:nvPr/>
        </p:nvCxnSpPr>
        <p:spPr>
          <a:xfrm rot="10800000" flipH="1">
            <a:off x="6874167" y="1970892"/>
            <a:ext cx="455224" cy="1"/>
          </a:xfrm>
          <a:prstGeom prst="straightConnector1">
            <a:avLst/>
          </a:prstGeom>
          <a:noFill/>
          <a:ln w="19050" cap="flat" cmpd="sng">
            <a:solidFill>
              <a:schemeClr val="accent1"/>
            </a:solidFill>
            <a:prstDash val="solid"/>
            <a:miter lim="800000"/>
            <a:headEnd type="none" w="sm" len="sm"/>
            <a:tailEnd type="triangle" w="med" len="med"/>
          </a:ln>
        </p:spPr>
      </p:cxnSp>
      <p:sp>
        <p:nvSpPr>
          <p:cNvPr id="119" name="Google Shape;119;p13"/>
          <p:cNvSpPr/>
          <p:nvPr/>
        </p:nvSpPr>
        <p:spPr>
          <a:xfrm>
            <a:off x="5674146" y="1728531"/>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LLM</a:t>
            </a:r>
            <a:endParaRPr sz="1400" b="0" i="0" u="none" strike="noStrike" cap="none">
              <a:solidFill>
                <a:srgbClr val="000000"/>
              </a:solidFill>
              <a:latin typeface="Arial"/>
              <a:ea typeface="Arial"/>
              <a:cs typeface="Arial"/>
              <a:sym typeface="Arial"/>
            </a:endParaRPr>
          </a:p>
        </p:txBody>
      </p:sp>
      <p:sp>
        <p:nvSpPr>
          <p:cNvPr id="120" name="Google Shape;120;p13"/>
          <p:cNvSpPr/>
          <p:nvPr/>
        </p:nvSpPr>
        <p:spPr>
          <a:xfrm>
            <a:off x="7341015" y="1728531"/>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Response</a:t>
            </a:r>
            <a:endParaRPr sz="1400" b="0" i="0" u="none" strike="noStrike" cap="none">
              <a:solidFill>
                <a:srgbClr val="000000"/>
              </a:solidFill>
              <a:latin typeface="Arial"/>
              <a:ea typeface="Arial"/>
              <a:cs typeface="Arial"/>
              <a:sym typeface="Arial"/>
            </a:endParaRPr>
          </a:p>
        </p:txBody>
      </p:sp>
      <p:sp>
        <p:nvSpPr>
          <p:cNvPr id="121" name="Google Shape;121;p13"/>
          <p:cNvSpPr/>
          <p:nvPr/>
        </p:nvSpPr>
        <p:spPr>
          <a:xfrm>
            <a:off x="851101" y="3485254"/>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Query</a:t>
            </a:r>
            <a:endParaRPr sz="1400" b="0" i="0" u="none" strike="noStrike" cap="none">
              <a:solidFill>
                <a:srgbClr val="000000"/>
              </a:solidFill>
              <a:latin typeface="Arial"/>
              <a:ea typeface="Arial"/>
              <a:cs typeface="Arial"/>
              <a:sym typeface="Arial"/>
            </a:endParaRPr>
          </a:p>
        </p:txBody>
      </p:sp>
      <p:cxnSp>
        <p:nvCxnSpPr>
          <p:cNvPr id="122" name="Google Shape;122;p13"/>
          <p:cNvCxnSpPr/>
          <p:nvPr/>
        </p:nvCxnSpPr>
        <p:spPr>
          <a:xfrm rot="10800000" flipH="1">
            <a:off x="2131537" y="3727613"/>
            <a:ext cx="455224" cy="1"/>
          </a:xfrm>
          <a:prstGeom prst="straightConnector1">
            <a:avLst/>
          </a:prstGeom>
          <a:noFill/>
          <a:ln w="19050" cap="flat" cmpd="sng">
            <a:solidFill>
              <a:schemeClr val="accent1"/>
            </a:solidFill>
            <a:prstDash val="solid"/>
            <a:miter lim="800000"/>
            <a:headEnd type="none" w="sm" len="sm"/>
            <a:tailEnd type="triangle" w="med" len="med"/>
          </a:ln>
        </p:spPr>
      </p:cxnSp>
      <p:sp>
        <p:nvSpPr>
          <p:cNvPr id="123" name="Google Shape;123;p13"/>
          <p:cNvSpPr/>
          <p:nvPr/>
        </p:nvSpPr>
        <p:spPr>
          <a:xfrm>
            <a:off x="5674146" y="2779939"/>
            <a:ext cx="1478080"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Embedding</a:t>
            </a:r>
            <a:endParaRPr sz="1400" b="0" i="0" u="none" strike="noStrike" cap="none">
              <a:solidFill>
                <a:srgbClr val="000000"/>
              </a:solidFill>
              <a:latin typeface="Arial"/>
              <a:ea typeface="Arial"/>
              <a:cs typeface="Arial"/>
              <a:sym typeface="Arial"/>
            </a:endParaRPr>
          </a:p>
        </p:txBody>
      </p:sp>
      <p:sp>
        <p:nvSpPr>
          <p:cNvPr id="124" name="Google Shape;124;p13"/>
          <p:cNvSpPr/>
          <p:nvPr/>
        </p:nvSpPr>
        <p:spPr>
          <a:xfrm>
            <a:off x="7605617" y="2689093"/>
            <a:ext cx="830426" cy="653143"/>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RAG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Data</a:t>
            </a:r>
            <a:endParaRPr sz="1400" b="0" i="0" u="none" strike="noStrike" cap="none">
              <a:solidFill>
                <a:srgbClr val="000000"/>
              </a:solidFill>
              <a:latin typeface="Arial"/>
              <a:ea typeface="Arial"/>
              <a:cs typeface="Arial"/>
              <a:sym typeface="Arial"/>
            </a:endParaRPr>
          </a:p>
        </p:txBody>
      </p:sp>
      <p:cxnSp>
        <p:nvCxnSpPr>
          <p:cNvPr id="125" name="Google Shape;125;p13"/>
          <p:cNvCxnSpPr/>
          <p:nvPr/>
        </p:nvCxnSpPr>
        <p:spPr>
          <a:xfrm rot="10800000" flipH="1">
            <a:off x="7143173" y="3015663"/>
            <a:ext cx="455224"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126" name="Google Shape;126;p13"/>
          <p:cNvCxnSpPr/>
          <p:nvPr/>
        </p:nvCxnSpPr>
        <p:spPr>
          <a:xfrm rot="10800000" flipH="1">
            <a:off x="8420470" y="3026972"/>
            <a:ext cx="455224"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127" name="Google Shape;127;p13"/>
          <p:cNvCxnSpPr/>
          <p:nvPr/>
        </p:nvCxnSpPr>
        <p:spPr>
          <a:xfrm rot="10800000" flipH="1">
            <a:off x="10070029" y="3033606"/>
            <a:ext cx="455224" cy="1"/>
          </a:xfrm>
          <a:prstGeom prst="straightConnector1">
            <a:avLst/>
          </a:prstGeom>
          <a:noFill/>
          <a:ln w="19050" cap="flat" cmpd="sng">
            <a:solidFill>
              <a:schemeClr val="accent1"/>
            </a:solidFill>
            <a:prstDash val="solid"/>
            <a:miter lim="800000"/>
            <a:headEnd type="none" w="sm" len="sm"/>
            <a:tailEnd type="triangle" w="med" len="med"/>
          </a:ln>
        </p:spPr>
      </p:cxnSp>
      <p:sp>
        <p:nvSpPr>
          <p:cNvPr id="128" name="Google Shape;128;p13"/>
          <p:cNvSpPr/>
          <p:nvPr/>
        </p:nvSpPr>
        <p:spPr>
          <a:xfrm>
            <a:off x="8870008" y="2791245"/>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LLM</a:t>
            </a:r>
            <a:endParaRPr sz="1400" b="0" i="0" u="none" strike="noStrike" cap="none">
              <a:solidFill>
                <a:srgbClr val="000000"/>
              </a:solidFill>
              <a:latin typeface="Arial"/>
              <a:ea typeface="Arial"/>
              <a:cs typeface="Arial"/>
              <a:sym typeface="Arial"/>
            </a:endParaRPr>
          </a:p>
        </p:txBody>
      </p:sp>
      <p:sp>
        <p:nvSpPr>
          <p:cNvPr id="129" name="Google Shape;129;p13"/>
          <p:cNvSpPr/>
          <p:nvPr/>
        </p:nvSpPr>
        <p:spPr>
          <a:xfrm>
            <a:off x="10536877" y="2791245"/>
            <a:ext cx="1266781" cy="471452"/>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Response</a:t>
            </a:r>
            <a:endParaRPr sz="1400" b="0" i="0" u="none" strike="noStrike" cap="none">
              <a:solidFill>
                <a:srgbClr val="000000"/>
              </a:solidFill>
              <a:latin typeface="Arial"/>
              <a:ea typeface="Arial"/>
              <a:cs typeface="Arial"/>
              <a:sym typeface="Arial"/>
            </a:endParaRPr>
          </a:p>
        </p:txBody>
      </p:sp>
      <p:sp>
        <p:nvSpPr>
          <p:cNvPr id="130" name="Google Shape;130;p13"/>
          <p:cNvSpPr/>
          <p:nvPr/>
        </p:nvSpPr>
        <p:spPr>
          <a:xfrm>
            <a:off x="2570238" y="3326162"/>
            <a:ext cx="1922061" cy="850037"/>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Reasoning</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(Think and Decide)</a:t>
            </a:r>
            <a:endParaRPr sz="1400" b="0" i="0" u="none" strike="noStrike" cap="none">
              <a:solidFill>
                <a:srgbClr val="000000"/>
              </a:solidFill>
              <a:latin typeface="Arial"/>
              <a:ea typeface="Arial"/>
              <a:cs typeface="Arial"/>
              <a:sym typeface="Arial"/>
            </a:endParaRPr>
          </a:p>
        </p:txBody>
      </p:sp>
      <p:sp>
        <p:nvSpPr>
          <p:cNvPr id="131" name="Google Shape;131;p13"/>
          <p:cNvSpPr/>
          <p:nvPr/>
        </p:nvSpPr>
        <p:spPr>
          <a:xfrm>
            <a:off x="6953307" y="3454156"/>
            <a:ext cx="2295896" cy="607990"/>
          </a:xfrm>
          <a:prstGeom prst="rect">
            <a:avLst/>
          </a:prstGeom>
          <a:solidFill>
            <a:srgbClr val="78206E"/>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 Other Agents </a:t>
            </a:r>
            <a:endParaRPr sz="18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(Search, API)</a:t>
            </a:r>
            <a:endParaRPr sz="1400" b="0" i="0" u="none" strike="noStrike" cap="none">
              <a:solidFill>
                <a:srgbClr val="000000"/>
              </a:solidFill>
              <a:latin typeface="Arial"/>
              <a:ea typeface="Arial"/>
              <a:cs typeface="Arial"/>
              <a:sym typeface="Arial"/>
            </a:endParaRPr>
          </a:p>
        </p:txBody>
      </p:sp>
      <p:sp>
        <p:nvSpPr>
          <p:cNvPr id="132" name="Google Shape;132;p13"/>
          <p:cNvSpPr/>
          <p:nvPr/>
        </p:nvSpPr>
        <p:spPr>
          <a:xfrm>
            <a:off x="5002132" y="4050840"/>
            <a:ext cx="1512515" cy="398736"/>
          </a:xfrm>
          <a:prstGeom prst="rect">
            <a:avLst/>
          </a:prstGeom>
          <a:solidFill>
            <a:srgbClr val="12501B"/>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Other Tools</a:t>
            </a:r>
            <a:endParaRPr sz="1400" b="0" i="0" u="none" strike="noStrike" cap="none">
              <a:solidFill>
                <a:srgbClr val="000000"/>
              </a:solidFill>
              <a:latin typeface="Arial"/>
              <a:ea typeface="Arial"/>
              <a:cs typeface="Arial"/>
              <a:sym typeface="Arial"/>
            </a:endParaRPr>
          </a:p>
        </p:txBody>
      </p:sp>
      <p:cxnSp>
        <p:nvCxnSpPr>
          <p:cNvPr id="133" name="Google Shape;133;p13"/>
          <p:cNvCxnSpPr/>
          <p:nvPr/>
        </p:nvCxnSpPr>
        <p:spPr>
          <a:xfrm rot="10800000" flipH="1">
            <a:off x="4409755" y="3652734"/>
            <a:ext cx="2531172" cy="1"/>
          </a:xfrm>
          <a:prstGeom prst="straightConnector1">
            <a:avLst/>
          </a:prstGeom>
          <a:noFill/>
          <a:ln w="19050" cap="flat" cmpd="sng">
            <a:solidFill>
              <a:schemeClr val="accent1"/>
            </a:solidFill>
            <a:prstDash val="solid"/>
            <a:miter lim="800000"/>
            <a:headEnd type="none" w="sm" len="sm"/>
            <a:tailEnd type="triangle" w="med" len="med"/>
          </a:ln>
        </p:spPr>
      </p:cxnSp>
      <p:cxnSp>
        <p:nvCxnSpPr>
          <p:cNvPr id="134" name="Google Shape;134;p13"/>
          <p:cNvCxnSpPr>
            <a:endCxn id="130" idx="0"/>
          </p:cNvCxnSpPr>
          <p:nvPr/>
        </p:nvCxnSpPr>
        <p:spPr>
          <a:xfrm>
            <a:off x="3531268" y="3033662"/>
            <a:ext cx="0" cy="292500"/>
          </a:xfrm>
          <a:prstGeom prst="straightConnector1">
            <a:avLst/>
          </a:prstGeom>
          <a:noFill/>
          <a:ln w="19050" cap="flat" cmpd="sng">
            <a:solidFill>
              <a:srgbClr val="115D81"/>
            </a:solidFill>
            <a:prstDash val="solid"/>
            <a:round/>
            <a:headEnd type="none" w="sm" len="sm"/>
            <a:tailEnd type="none" w="sm" len="sm"/>
          </a:ln>
        </p:spPr>
      </p:cxnSp>
      <p:cxnSp>
        <p:nvCxnSpPr>
          <p:cNvPr id="135" name="Google Shape;135;p13"/>
          <p:cNvCxnSpPr/>
          <p:nvPr/>
        </p:nvCxnSpPr>
        <p:spPr>
          <a:xfrm rot="10800000" flipH="1">
            <a:off x="3531268" y="3033606"/>
            <a:ext cx="2144073" cy="10614"/>
          </a:xfrm>
          <a:prstGeom prst="straightConnector1">
            <a:avLst/>
          </a:prstGeom>
          <a:noFill/>
          <a:ln w="19050" cap="flat" cmpd="sng">
            <a:solidFill>
              <a:schemeClr val="accent1"/>
            </a:solidFill>
            <a:prstDash val="solid"/>
            <a:miter lim="800000"/>
            <a:headEnd type="none" w="sm" len="sm"/>
            <a:tailEnd type="triangle" w="med" len="med"/>
          </a:ln>
        </p:spPr>
      </p:cxnSp>
      <p:cxnSp>
        <p:nvCxnSpPr>
          <p:cNvPr id="136" name="Google Shape;136;p13"/>
          <p:cNvCxnSpPr/>
          <p:nvPr/>
        </p:nvCxnSpPr>
        <p:spPr>
          <a:xfrm>
            <a:off x="3480468" y="4176199"/>
            <a:ext cx="0" cy="153289"/>
          </a:xfrm>
          <a:prstGeom prst="straightConnector1">
            <a:avLst/>
          </a:prstGeom>
          <a:noFill/>
          <a:ln w="19050" cap="flat" cmpd="sng">
            <a:solidFill>
              <a:srgbClr val="115D81"/>
            </a:solidFill>
            <a:prstDash val="solid"/>
            <a:round/>
            <a:headEnd type="none" w="sm" len="sm"/>
            <a:tailEnd type="none" w="sm" len="sm"/>
          </a:ln>
        </p:spPr>
      </p:cxnSp>
      <p:cxnSp>
        <p:nvCxnSpPr>
          <p:cNvPr id="137" name="Google Shape;137;p13"/>
          <p:cNvCxnSpPr/>
          <p:nvPr/>
        </p:nvCxnSpPr>
        <p:spPr>
          <a:xfrm>
            <a:off x="3480468" y="4329488"/>
            <a:ext cx="1557493" cy="1"/>
          </a:xfrm>
          <a:prstGeom prst="straightConnector1">
            <a:avLst/>
          </a:prstGeom>
          <a:noFill/>
          <a:ln w="19050" cap="flat" cmpd="sng">
            <a:solidFill>
              <a:schemeClr val="accent1"/>
            </a:solidFill>
            <a:prstDash val="solid"/>
            <a:miter lim="800000"/>
            <a:headEnd type="none" w="sm" len="sm"/>
            <a:tailEnd type="triangle" w="med" len="med"/>
          </a:ln>
        </p:spPr>
      </p:cxnSp>
      <p:sp>
        <p:nvSpPr>
          <p:cNvPr id="138" name="Google Shape;138;p13"/>
          <p:cNvSpPr txBox="1"/>
          <p:nvPr/>
        </p:nvSpPr>
        <p:spPr>
          <a:xfrm>
            <a:off x="5075016" y="1335858"/>
            <a:ext cx="195117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Knowledge Source</a:t>
            </a:r>
            <a:endParaRPr sz="1400" b="0" i="0" u="none" strike="noStrike" cap="none">
              <a:solidFill>
                <a:schemeClr val="dk1"/>
              </a:solidFill>
              <a:latin typeface="Arial"/>
              <a:ea typeface="Arial"/>
              <a:cs typeface="Arial"/>
              <a:sym typeface="Arial"/>
            </a:endParaRPr>
          </a:p>
        </p:txBody>
      </p:sp>
      <p:sp>
        <p:nvSpPr>
          <p:cNvPr id="139" name="Google Shape;139;p13"/>
          <p:cNvSpPr txBox="1"/>
          <p:nvPr/>
        </p:nvSpPr>
        <p:spPr>
          <a:xfrm rot="-2361782">
            <a:off x="7041771" y="2273793"/>
            <a:ext cx="90840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Cosine Similarity</a:t>
            </a:r>
            <a:endParaRPr sz="1400" b="0" i="0" u="none" strike="noStrike" cap="none">
              <a:solidFill>
                <a:srgbClr val="000000"/>
              </a:solidFill>
              <a:latin typeface="Arial"/>
              <a:ea typeface="Arial"/>
              <a:cs typeface="Arial"/>
              <a:sym typeface="Arial"/>
            </a:endParaRPr>
          </a:p>
        </p:txBody>
      </p:sp>
      <p:sp>
        <p:nvSpPr>
          <p:cNvPr id="140" name="Google Shape;140;p13"/>
          <p:cNvSpPr txBox="1"/>
          <p:nvPr/>
        </p:nvSpPr>
        <p:spPr>
          <a:xfrm>
            <a:off x="372533" y="974306"/>
            <a:ext cx="2555508"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Simple RAG</a:t>
            </a:r>
            <a:endParaRPr/>
          </a:p>
        </p:txBody>
      </p:sp>
      <p:sp>
        <p:nvSpPr>
          <p:cNvPr id="141" name="Google Shape;141;p13"/>
          <p:cNvSpPr txBox="1"/>
          <p:nvPr/>
        </p:nvSpPr>
        <p:spPr>
          <a:xfrm>
            <a:off x="477304" y="2519505"/>
            <a:ext cx="2705344"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RAG Agent</a:t>
            </a:r>
            <a:endParaRPr sz="32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8" descr="Cosine Similarity: Not the Silver Bullet We Thought It Was | Shaped Blog"/>
          <p:cNvPicPr preferRelativeResize="0"/>
          <p:nvPr/>
        </p:nvPicPr>
        <p:blipFill rotWithShape="1">
          <a:blip r:embed="rId3">
            <a:alphaModFix/>
          </a:blip>
          <a:srcRect/>
          <a:stretch/>
        </p:blipFill>
        <p:spPr>
          <a:xfrm>
            <a:off x="7398620" y="510812"/>
            <a:ext cx="4344202" cy="3382218"/>
          </a:xfrm>
          <a:prstGeom prst="rect">
            <a:avLst/>
          </a:prstGeom>
          <a:noFill/>
          <a:ln>
            <a:noFill/>
          </a:ln>
        </p:spPr>
      </p:pic>
      <p:sp>
        <p:nvSpPr>
          <p:cNvPr id="147" name="Google Shape;147;p28"/>
          <p:cNvSpPr/>
          <p:nvPr/>
        </p:nvSpPr>
        <p:spPr>
          <a:xfrm>
            <a:off x="668884" y="1624835"/>
            <a:ext cx="5113177" cy="1837875"/>
          </a:xfrm>
          <a:prstGeom prst="rect">
            <a:avLst/>
          </a:prstGeom>
          <a:solidFill>
            <a:srgbClr val="D8F3F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8" name="Google Shape;148;p28"/>
          <p:cNvSpPr txBox="1">
            <a:spLocks noGrp="1"/>
          </p:cNvSpPr>
          <p:nvPr>
            <p:ph type="subTitle" idx="1"/>
          </p:nvPr>
        </p:nvSpPr>
        <p:spPr>
          <a:xfrm>
            <a:off x="714920" y="1880959"/>
            <a:ext cx="4792821" cy="1507134"/>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2000"/>
              <a:buAutoNum type="arabicPeriod"/>
            </a:pPr>
            <a:r>
              <a:rPr lang="en-US" sz="2000"/>
              <a:t>Measuring the cosine of the angle between vector representations of two texts</a:t>
            </a:r>
            <a:endParaRPr/>
          </a:p>
          <a:p>
            <a:pPr marL="457200" lvl="0" indent="-457200" algn="l" rtl="0">
              <a:lnSpc>
                <a:spcPct val="90000"/>
              </a:lnSpc>
              <a:spcBef>
                <a:spcPts val="0"/>
              </a:spcBef>
              <a:spcAft>
                <a:spcPts val="0"/>
              </a:spcAft>
              <a:buSzPts val="2000"/>
              <a:buAutoNum type="arabicPeriod"/>
            </a:pPr>
            <a:r>
              <a:rPr lang="en-US" sz="2000"/>
              <a:t>Smaller angle → higher similarity</a:t>
            </a:r>
            <a:endParaRPr/>
          </a:p>
          <a:p>
            <a:pPr marL="0" lvl="0" indent="0" algn="l" rtl="0">
              <a:lnSpc>
                <a:spcPct val="90000"/>
              </a:lnSpc>
              <a:spcBef>
                <a:spcPts val="0"/>
              </a:spcBef>
              <a:spcAft>
                <a:spcPts val="0"/>
              </a:spcAft>
              <a:buSzPts val="2000"/>
              <a:buNone/>
            </a:pPr>
            <a:r>
              <a:rPr lang="en-US" sz="2000"/>
              <a:t>       Larger angle → lower similarity</a:t>
            </a:r>
            <a:endParaRPr sz="2000"/>
          </a:p>
        </p:txBody>
      </p:sp>
      <p:sp>
        <p:nvSpPr>
          <p:cNvPr id="149" name="Google Shape;149;p28"/>
          <p:cNvSpPr/>
          <p:nvPr/>
        </p:nvSpPr>
        <p:spPr>
          <a:xfrm>
            <a:off x="317375" y="3718834"/>
            <a:ext cx="6576864" cy="2970724"/>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Vector and Embedding: </a:t>
            </a:r>
            <a:r>
              <a:rPr lang="en-US" sz="1400" b="0" i="0" u="none" strike="noStrike" cap="none">
                <a:solidFill>
                  <a:srgbClr val="000000"/>
                </a:solidFill>
                <a:latin typeface="Arial"/>
                <a:ea typeface="Arial"/>
                <a:cs typeface="Arial"/>
                <a:sym typeface="Arial"/>
              </a:rPr>
              <a:t>Vector is numerical representation of words. This process is known as vector embedding.  Similar words are placed close to each other in a vector space and dissimilar one fall far apart.</a:t>
            </a:r>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Tokenization: </a:t>
            </a:r>
            <a:r>
              <a:rPr lang="en-US" sz="1400" b="0" i="0" u="none" strike="noStrike" cap="none">
                <a:solidFill>
                  <a:srgbClr val="000000"/>
                </a:solidFill>
                <a:latin typeface="Arial"/>
                <a:ea typeface="Arial"/>
                <a:cs typeface="Arial"/>
                <a:sym typeface="Arial"/>
              </a:rPr>
              <a:t>splits sentences into smaller pieces (words, subwords, or characters.)</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N-gram: </a:t>
            </a:r>
            <a:r>
              <a:rPr lang="en-US" sz="1400" b="0" i="0" u="none" strike="noStrike" cap="none">
                <a:solidFill>
                  <a:srgbClr val="000000"/>
                </a:solidFill>
                <a:latin typeface="Arial"/>
                <a:ea typeface="Arial"/>
                <a:cs typeface="Arial"/>
                <a:sym typeface="Arial"/>
              </a:rPr>
              <a:t>Sequence of tokens (Unigram, Bigram, trigram)</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Numerical Representation </a:t>
            </a:r>
            <a:r>
              <a:rPr lang="en-US" sz="1400" b="0" i="0" u="none" strike="noStrike" cap="none">
                <a:solidFill>
                  <a:srgbClr val="000000"/>
                </a:solidFill>
                <a:latin typeface="Arial"/>
                <a:ea typeface="Arial"/>
                <a:cs typeface="Arial"/>
                <a:sym typeface="Arial"/>
              </a:rPr>
              <a:t>Can be Bag of words (frequency of word in a documents), TF-IDF, Embedding (vector)</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Special Note: </a:t>
            </a:r>
            <a:r>
              <a:rPr lang="en-US" sz="1400" b="0" i="0" u="none" strike="noStrike" cap="none">
                <a:solidFill>
                  <a:srgbClr val="000000"/>
                </a:solidFill>
                <a:latin typeface="Arial"/>
                <a:ea typeface="Arial"/>
                <a:cs typeface="Arial"/>
                <a:sym typeface="Arial"/>
              </a:rPr>
              <a:t>In Bigram [“I Love”, “Love NLP”] 🡪 Count as 1 for each even the Love presents in both unit.</a:t>
            </a:r>
            <a:endParaRPr sz="1400" b="0" i="0" u="none" strike="noStrike" cap="none">
              <a:solidFill>
                <a:srgbClr val="000000"/>
              </a:solidFill>
              <a:latin typeface="Arial"/>
              <a:ea typeface="Arial"/>
              <a:cs typeface="Arial"/>
              <a:sym typeface="Arial"/>
            </a:endParaRPr>
          </a:p>
        </p:txBody>
      </p:sp>
      <p:pic>
        <p:nvPicPr>
          <p:cNvPr id="150" name="Google Shape;150;p28"/>
          <p:cNvPicPr preferRelativeResize="0"/>
          <p:nvPr/>
        </p:nvPicPr>
        <p:blipFill rotWithShape="1">
          <a:blip r:embed="rId4">
            <a:alphaModFix/>
          </a:blip>
          <a:srcRect/>
          <a:stretch/>
        </p:blipFill>
        <p:spPr>
          <a:xfrm>
            <a:off x="7121662" y="4196604"/>
            <a:ext cx="4744112" cy="2314898"/>
          </a:xfrm>
          <a:prstGeom prst="rect">
            <a:avLst/>
          </a:prstGeom>
          <a:noFill/>
          <a:ln>
            <a:noFill/>
          </a:ln>
        </p:spPr>
      </p:pic>
      <p:sp>
        <p:nvSpPr>
          <p:cNvPr id="151" name="Google Shape;151;p28"/>
          <p:cNvSpPr/>
          <p:nvPr/>
        </p:nvSpPr>
        <p:spPr>
          <a:xfrm>
            <a:off x="7121662" y="4196604"/>
            <a:ext cx="4621160" cy="2314898"/>
          </a:xfrm>
          <a:prstGeom prst="rect">
            <a:avLst/>
          </a:prstGeom>
          <a:noFill/>
          <a:ln w="25400" cap="flat" cmpd="sng">
            <a:solidFill>
              <a:srgbClr val="0F465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2" name="Google Shape;152;p28"/>
          <p:cNvSpPr txBox="1"/>
          <p:nvPr/>
        </p:nvSpPr>
        <p:spPr>
          <a:xfrm>
            <a:off x="643029" y="461989"/>
            <a:ext cx="11604174" cy="906722"/>
          </a:xfrm>
          <a:prstGeom prst="rect">
            <a:avLst/>
          </a:prstGeom>
          <a:noFill/>
          <a:ln>
            <a:noFill/>
          </a:ln>
        </p:spPr>
        <p:txBody>
          <a:bodyPr spcFirstLastPara="1" wrap="square" lIns="91425" tIns="45700" rIns="91425" bIns="45700" anchor="b" anchorCtr="0">
            <a:normAutofit fontScale="97500"/>
          </a:bodyPr>
          <a:lstStyle/>
          <a:p>
            <a:pPr marL="0" marR="0" lvl="0" indent="0" algn="l" rtl="0">
              <a:lnSpc>
                <a:spcPct val="90000"/>
              </a:lnSpc>
              <a:spcBef>
                <a:spcPts val="0"/>
              </a:spcBef>
              <a:spcAft>
                <a:spcPts val="0"/>
              </a:spcAft>
              <a:buClr>
                <a:schemeClr val="dk1"/>
              </a:buClr>
              <a:buSzPct val="100000"/>
              <a:buFont typeface="Play"/>
              <a:buNone/>
            </a:pPr>
            <a:r>
              <a:rPr lang="en-US" sz="6000" b="0" i="0" u="none" strike="noStrike" cap="none">
                <a:solidFill>
                  <a:schemeClr val="dk1"/>
                </a:solidFill>
                <a:latin typeface="Play"/>
                <a:ea typeface="Play"/>
                <a:cs typeface="Play"/>
                <a:sym typeface="Play"/>
              </a:rPr>
              <a:t>Cosine Similarity</a:t>
            </a:r>
            <a:endParaRPr sz="6000" b="0" i="0" u="none" strike="noStrike" cap="none">
              <a:solidFill>
                <a:schemeClr val="dk1"/>
              </a:solidFill>
              <a:latin typeface="Play"/>
              <a:ea typeface="Play"/>
              <a:cs typeface="Play"/>
              <a:sym typeface="Pla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p:nvPr/>
        </p:nvSpPr>
        <p:spPr>
          <a:xfrm>
            <a:off x="7113070" y="1511165"/>
            <a:ext cx="4167739" cy="3089711"/>
          </a:xfrm>
          <a:prstGeom prst="rect">
            <a:avLst/>
          </a:prstGeom>
          <a:solidFill>
            <a:srgbClr val="F2CDED"/>
          </a:solidFill>
          <a:ln w="25400" cap="flat" cmpd="sng">
            <a:solidFill>
              <a:srgbClr val="0F465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8" name="Google Shape;158;p29"/>
          <p:cNvSpPr txBox="1"/>
          <p:nvPr/>
        </p:nvSpPr>
        <p:spPr>
          <a:xfrm>
            <a:off x="472324" y="184619"/>
            <a:ext cx="8267416" cy="906722"/>
          </a:xfrm>
          <a:prstGeom prst="rect">
            <a:avLst/>
          </a:prstGeom>
          <a:noFill/>
          <a:ln>
            <a:noFill/>
          </a:ln>
        </p:spPr>
        <p:txBody>
          <a:bodyPr spcFirstLastPara="1" wrap="square" lIns="91425" tIns="45700" rIns="91425" bIns="45700" anchor="b" anchorCtr="0">
            <a:normAutofit fontScale="97500"/>
          </a:bodyPr>
          <a:lstStyle/>
          <a:p>
            <a:pPr marL="0" marR="0" lvl="0" indent="0" algn="l" rtl="0">
              <a:lnSpc>
                <a:spcPct val="90000"/>
              </a:lnSpc>
              <a:spcBef>
                <a:spcPts val="0"/>
              </a:spcBef>
              <a:spcAft>
                <a:spcPts val="0"/>
              </a:spcAft>
              <a:buClr>
                <a:schemeClr val="dk1"/>
              </a:buClr>
              <a:buSzPct val="100000"/>
              <a:buFont typeface="Play"/>
              <a:buNone/>
            </a:pPr>
            <a:r>
              <a:rPr lang="en-US" sz="4400" b="0" i="0" u="none" strike="noStrike" cap="none">
                <a:solidFill>
                  <a:schemeClr val="dk1"/>
                </a:solidFill>
                <a:latin typeface="Play"/>
                <a:ea typeface="Play"/>
                <a:cs typeface="Play"/>
                <a:sym typeface="Play"/>
              </a:rPr>
              <a:t>Large Language Model</a:t>
            </a:r>
            <a:endParaRPr sz="4400" b="0" i="0" u="none" strike="noStrike" cap="none">
              <a:solidFill>
                <a:schemeClr val="dk1"/>
              </a:solidFill>
              <a:latin typeface="Play"/>
              <a:ea typeface="Play"/>
              <a:cs typeface="Play"/>
              <a:sym typeface="Play"/>
            </a:endParaRPr>
          </a:p>
        </p:txBody>
      </p:sp>
      <p:sp>
        <p:nvSpPr>
          <p:cNvPr id="159" name="Google Shape;159;p29"/>
          <p:cNvSpPr/>
          <p:nvPr/>
        </p:nvSpPr>
        <p:spPr>
          <a:xfrm>
            <a:off x="668884" y="1595959"/>
            <a:ext cx="5818543" cy="2032765"/>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Trained on massive amount of texts data (Text source: internet, etc..)</a:t>
            </a:r>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Understand and Generate Human Like Text</a:t>
            </a:r>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LLM can predict the next words</a:t>
            </a:r>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Has millions and billions of parameters</a:t>
            </a:r>
            <a:endParaRPr/>
          </a:p>
          <a:p>
            <a:pPr marL="0" marR="0" lvl="0" indent="0" algn="l" rtl="0">
              <a:lnSpc>
                <a:spcPct val="1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Arial"/>
                <a:ea typeface="Arial"/>
                <a:cs typeface="Arial"/>
                <a:sym typeface="Arial"/>
              </a:rPr>
              <a:t>Transformer based architecture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Example: </a:t>
            </a:r>
            <a:r>
              <a:rPr lang="en-US" sz="1800" b="0" i="0" u="none" strike="noStrike" cap="none">
                <a:solidFill>
                  <a:srgbClr val="000000"/>
                </a:solidFill>
                <a:latin typeface="Arial"/>
                <a:ea typeface="Arial"/>
                <a:cs typeface="Arial"/>
                <a:sym typeface="Arial"/>
              </a:rPr>
              <a:t>Gemini , GPT, LLaMA, BERT, T5</a:t>
            </a:r>
            <a:endParaRPr sz="1800" b="0" i="0" u="none" strike="noStrike" cap="none">
              <a:solidFill>
                <a:srgbClr val="000000"/>
              </a:solidFill>
              <a:latin typeface="Arial"/>
              <a:ea typeface="Arial"/>
              <a:cs typeface="Arial"/>
              <a:sym typeface="Arial"/>
            </a:endParaRPr>
          </a:p>
        </p:txBody>
      </p:sp>
      <p:graphicFrame>
        <p:nvGraphicFramePr>
          <p:cNvPr id="160" name="Google Shape;160;p29"/>
          <p:cNvGraphicFramePr/>
          <p:nvPr/>
        </p:nvGraphicFramePr>
        <p:xfrm>
          <a:off x="780447" y="3989122"/>
          <a:ext cx="3000000" cy="3000000"/>
        </p:xfrm>
        <a:graphic>
          <a:graphicData uri="http://schemas.openxmlformats.org/drawingml/2006/table">
            <a:tbl>
              <a:tblPr>
                <a:noFill/>
                <a:tableStyleId>{86ABC42B-86BA-45EF-92E6-30905D7FB77D}</a:tableStyleId>
              </a:tblPr>
              <a:tblGrid>
                <a:gridCol w="1443000">
                  <a:extLst>
                    <a:ext uri="{9D8B030D-6E8A-4147-A177-3AD203B41FA5}">
                      <a16:colId xmlns:a16="http://schemas.microsoft.com/office/drawing/2014/main" val="20000"/>
                    </a:ext>
                  </a:extLst>
                </a:gridCol>
                <a:gridCol w="3465100">
                  <a:extLst>
                    <a:ext uri="{9D8B030D-6E8A-4147-A177-3AD203B41FA5}">
                      <a16:colId xmlns:a16="http://schemas.microsoft.com/office/drawing/2014/main" val="20001"/>
                    </a:ext>
                  </a:extLst>
                </a:gridCol>
              </a:tblGrid>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Model</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Transformer Type</a:t>
                      </a:r>
                      <a:endParaRPr/>
                    </a:p>
                  </a:txBody>
                  <a:tcPr marL="91450" marR="91450" marT="45725" marB="45725" anchor="ctr"/>
                </a:tc>
                <a:extLst>
                  <a:ext uri="{0D108BD9-81ED-4DB2-BD59-A6C34878D82A}">
                    <a16:rowId xmlns:a16="http://schemas.microsoft.com/office/drawing/2014/main" val="10000"/>
                  </a:ext>
                </a:extLst>
              </a:tr>
              <a:tr h="355075">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GPT</a:t>
                      </a:r>
                      <a:endParaRPr sz="16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Decoder-only Transformer</a:t>
                      </a:r>
                      <a:endParaRPr/>
                    </a:p>
                  </a:txBody>
                  <a:tcPr marL="91450" marR="91450" marT="45725" marB="45725" anchor="ctr"/>
                </a:tc>
                <a:extLst>
                  <a:ext uri="{0D108BD9-81ED-4DB2-BD59-A6C34878D82A}">
                    <a16:rowId xmlns:a16="http://schemas.microsoft.com/office/drawing/2014/main" val="10001"/>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LLaMA</a:t>
                      </a:r>
                      <a:endParaRPr sz="1600" b="0" i="0" u="none" strike="noStrike" cap="none">
                        <a:solidFill>
                          <a:srgbClr val="000000"/>
                        </a:solidFill>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Decoder-only Transformer</a:t>
                      </a:r>
                      <a:endParaRPr/>
                    </a:p>
                  </a:txBody>
                  <a:tcPr marL="91450" marR="91450" marT="45725" marB="45725" anchor="ctr"/>
                </a:tc>
                <a:extLst>
                  <a:ext uri="{0D108BD9-81ED-4DB2-BD59-A6C34878D82A}">
                    <a16:rowId xmlns:a16="http://schemas.microsoft.com/office/drawing/2014/main" val="10002"/>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BERT</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Encoder-only Transformer</a:t>
                      </a:r>
                      <a:endParaRPr/>
                    </a:p>
                  </a:txBody>
                  <a:tcPr marL="91450" marR="91450" marT="45725" marB="45725" anchor="ctr"/>
                </a:tc>
                <a:extLst>
                  <a:ext uri="{0D108BD9-81ED-4DB2-BD59-A6C34878D82A}">
                    <a16:rowId xmlns:a16="http://schemas.microsoft.com/office/drawing/2014/main" val="10003"/>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T5</a:t>
                      </a:r>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Encoder-Decoder Transformer</a:t>
                      </a:r>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161" name="Google Shape;161;p29"/>
          <p:cNvSpPr txBox="1"/>
          <p:nvPr/>
        </p:nvSpPr>
        <p:spPr>
          <a:xfrm>
            <a:off x="7113070" y="1653710"/>
            <a:ext cx="3984859"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SLM: </a:t>
            </a:r>
            <a:r>
              <a:rPr lang="en-US" sz="1400" b="0" i="0" u="none" strike="noStrike" cap="none">
                <a:solidFill>
                  <a:srgbClr val="000000"/>
                </a:solidFill>
                <a:latin typeface="Arial"/>
                <a:ea typeface="Arial"/>
                <a:cs typeface="Arial"/>
                <a:sym typeface="Arial"/>
              </a:rPr>
              <a:t>Small Language Model</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Train on smaller scale dataset as compare to LLM</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LLM Use case: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Complex, context-aware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Chatbots, summarization, code generation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SLM Use case: </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Lightweight, Simple Task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Email Classification, Grammar Checking, Sentiment Analysis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p:nvPr/>
        </p:nvSpPr>
        <p:spPr>
          <a:xfrm>
            <a:off x="472324" y="184619"/>
            <a:ext cx="8267416" cy="906722"/>
          </a:xfrm>
          <a:prstGeom prst="rect">
            <a:avLst/>
          </a:prstGeom>
          <a:noFill/>
          <a:ln>
            <a:noFill/>
          </a:ln>
        </p:spPr>
        <p:txBody>
          <a:bodyPr spcFirstLastPara="1" wrap="square" lIns="91425" tIns="45700" rIns="91425" bIns="45700" anchor="b" anchorCtr="0">
            <a:normAutofit fontScale="97500"/>
          </a:bodyPr>
          <a:lstStyle/>
          <a:p>
            <a:pPr marL="0" marR="0" lvl="0" indent="0" algn="l" rtl="0">
              <a:lnSpc>
                <a:spcPct val="90000"/>
              </a:lnSpc>
              <a:spcBef>
                <a:spcPts val="0"/>
              </a:spcBef>
              <a:spcAft>
                <a:spcPts val="0"/>
              </a:spcAft>
              <a:buClr>
                <a:schemeClr val="dk1"/>
              </a:buClr>
              <a:buSzPct val="100000"/>
              <a:buFont typeface="Play"/>
              <a:buNone/>
            </a:pPr>
            <a:r>
              <a:rPr lang="en-US" sz="4400" b="0" i="0" u="none" strike="noStrike" cap="none">
                <a:solidFill>
                  <a:schemeClr val="dk1"/>
                </a:solidFill>
                <a:latin typeface="Play"/>
                <a:ea typeface="Play"/>
                <a:cs typeface="Play"/>
                <a:sym typeface="Play"/>
              </a:rPr>
              <a:t>Transformers</a:t>
            </a:r>
            <a:endParaRPr sz="4400" b="0" i="0" u="none" strike="noStrike" cap="none">
              <a:solidFill>
                <a:schemeClr val="dk1"/>
              </a:solidFill>
              <a:latin typeface="Play"/>
              <a:ea typeface="Play"/>
              <a:cs typeface="Play"/>
              <a:sym typeface="Play"/>
            </a:endParaRPr>
          </a:p>
        </p:txBody>
      </p:sp>
      <p:sp>
        <p:nvSpPr>
          <p:cNvPr id="167" name="Google Shape;167;p30"/>
          <p:cNvSpPr txBox="1"/>
          <p:nvPr/>
        </p:nvSpPr>
        <p:spPr>
          <a:xfrm>
            <a:off x="548640" y="980024"/>
            <a:ext cx="474200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Attention Is All You Need</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168" name="Google Shape;168;p30"/>
          <p:cNvGrpSpPr/>
          <p:nvPr/>
        </p:nvGrpSpPr>
        <p:grpSpPr>
          <a:xfrm>
            <a:off x="7482092" y="-1"/>
            <a:ext cx="4408515" cy="6512245"/>
            <a:chOff x="3573610" y="895358"/>
            <a:chExt cx="4778360" cy="6512245"/>
          </a:xfrm>
        </p:grpSpPr>
        <p:pic>
          <p:nvPicPr>
            <p:cNvPr id="169" name="Google Shape;169;p30" descr="Attention Is All You Need!. Demystifying the Transformer ..."/>
            <p:cNvPicPr preferRelativeResize="0"/>
            <p:nvPr/>
          </p:nvPicPr>
          <p:blipFill rotWithShape="1">
            <a:blip r:embed="rId4">
              <a:alphaModFix/>
            </a:blip>
            <a:srcRect/>
            <a:stretch/>
          </p:blipFill>
          <p:spPr>
            <a:xfrm>
              <a:off x="3573610" y="895358"/>
              <a:ext cx="4778360" cy="6512245"/>
            </a:xfrm>
            <a:prstGeom prst="rect">
              <a:avLst/>
            </a:prstGeom>
            <a:noFill/>
            <a:ln>
              <a:noFill/>
            </a:ln>
          </p:spPr>
        </p:pic>
        <p:sp>
          <p:nvSpPr>
            <p:cNvPr id="170" name="Google Shape;170;p30"/>
            <p:cNvSpPr txBox="1"/>
            <p:nvPr/>
          </p:nvSpPr>
          <p:spPr>
            <a:xfrm>
              <a:off x="6004984" y="3962400"/>
              <a:ext cx="324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K</a:t>
              </a:r>
              <a:endParaRPr sz="1400" b="1" i="0" u="none" strike="noStrike" cap="none">
                <a:solidFill>
                  <a:srgbClr val="000000"/>
                </a:solidFill>
                <a:latin typeface="Arial"/>
                <a:ea typeface="Arial"/>
                <a:cs typeface="Arial"/>
                <a:sym typeface="Arial"/>
              </a:endParaRPr>
            </a:p>
          </p:txBody>
        </p:sp>
        <p:sp>
          <p:nvSpPr>
            <p:cNvPr id="171" name="Google Shape;171;p30"/>
            <p:cNvSpPr txBox="1"/>
            <p:nvPr/>
          </p:nvSpPr>
          <p:spPr>
            <a:xfrm>
              <a:off x="6360933" y="3962400"/>
              <a:ext cx="3241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V</a:t>
              </a:r>
              <a:endParaRPr sz="1400" b="1" i="0" u="none" strike="noStrike" cap="none">
                <a:solidFill>
                  <a:srgbClr val="000000"/>
                </a:solidFill>
                <a:latin typeface="Arial"/>
                <a:ea typeface="Arial"/>
                <a:cs typeface="Arial"/>
                <a:sym typeface="Arial"/>
              </a:endParaRPr>
            </a:p>
          </p:txBody>
        </p:sp>
        <p:sp>
          <p:nvSpPr>
            <p:cNvPr id="172" name="Google Shape;172;p30"/>
            <p:cNvSpPr txBox="1"/>
            <p:nvPr/>
          </p:nvSpPr>
          <p:spPr>
            <a:xfrm>
              <a:off x="6723233" y="3966005"/>
              <a:ext cx="30489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Q</a:t>
              </a:r>
              <a:endParaRPr sz="1400" b="1" i="0" u="none" strike="noStrike" cap="none">
                <a:solidFill>
                  <a:srgbClr val="000000"/>
                </a:solidFill>
                <a:latin typeface="Arial"/>
                <a:ea typeface="Arial"/>
                <a:cs typeface="Arial"/>
                <a:sym typeface="Arial"/>
              </a:endParaRPr>
            </a:p>
          </p:txBody>
        </p:sp>
      </p:grpSp>
      <p:sp>
        <p:nvSpPr>
          <p:cNvPr id="173" name="Google Shape;173;p30"/>
          <p:cNvSpPr txBox="1"/>
          <p:nvPr/>
        </p:nvSpPr>
        <p:spPr>
          <a:xfrm>
            <a:off x="317375" y="1525400"/>
            <a:ext cx="7102200" cy="4186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000" b="1">
                <a:solidFill>
                  <a:schemeClr val="dk1"/>
                </a:solidFill>
              </a:rPr>
              <a:t>Input Embedding: </a:t>
            </a:r>
            <a:r>
              <a:rPr lang="en-US" sz="2000">
                <a:solidFill>
                  <a:schemeClr val="dk1"/>
                </a:solidFill>
              </a:rPr>
              <a:t>Numerical representation of words in a vector space</a:t>
            </a:r>
            <a:endParaRPr sz="2000">
              <a:solidFill>
                <a:schemeClr val="dk1"/>
              </a:solidFill>
            </a:endParaRPr>
          </a:p>
          <a:p>
            <a:pPr marL="0" lvl="0" indent="0" algn="just" rtl="0">
              <a:spcBef>
                <a:spcPts val="0"/>
              </a:spcBef>
              <a:spcAft>
                <a:spcPts val="0"/>
              </a:spcAft>
              <a:buNone/>
            </a:pPr>
            <a:endParaRPr sz="2000">
              <a:solidFill>
                <a:schemeClr val="dk1"/>
              </a:solidFill>
            </a:endParaRPr>
          </a:p>
          <a:p>
            <a:pPr marL="0" lvl="0" indent="0" algn="just" rtl="0">
              <a:spcBef>
                <a:spcPts val="0"/>
              </a:spcBef>
              <a:spcAft>
                <a:spcPts val="0"/>
              </a:spcAft>
              <a:buNone/>
            </a:pPr>
            <a:r>
              <a:rPr lang="en-US" sz="2000" b="1">
                <a:solidFill>
                  <a:schemeClr val="dk1"/>
                </a:solidFill>
              </a:rPr>
              <a:t>Positional Encoding:</a:t>
            </a:r>
            <a:r>
              <a:rPr lang="en-US" sz="2000">
                <a:solidFill>
                  <a:schemeClr val="dk1"/>
                </a:solidFill>
              </a:rPr>
              <a:t> Capture the position of each token/words since transformers process tokens in parallel. </a:t>
            </a:r>
            <a:endParaRPr sz="2000">
              <a:solidFill>
                <a:schemeClr val="dk1"/>
              </a:solidFill>
            </a:endParaRPr>
          </a:p>
          <a:p>
            <a:pPr marL="0" lvl="0" indent="0" algn="just" rtl="0">
              <a:spcBef>
                <a:spcPts val="0"/>
              </a:spcBef>
              <a:spcAft>
                <a:spcPts val="0"/>
              </a:spcAft>
              <a:buNone/>
            </a:pPr>
            <a:endParaRPr sz="2000">
              <a:solidFill>
                <a:schemeClr val="dk1"/>
              </a:solidFill>
            </a:endParaRPr>
          </a:p>
          <a:p>
            <a:pPr marL="0" lvl="0" indent="0" algn="l" rtl="0">
              <a:spcBef>
                <a:spcPts val="0"/>
              </a:spcBef>
              <a:spcAft>
                <a:spcPts val="0"/>
              </a:spcAft>
              <a:buNone/>
            </a:pPr>
            <a:r>
              <a:rPr lang="en-US" sz="2000" b="1">
                <a:solidFill>
                  <a:schemeClr val="dk1"/>
                </a:solidFill>
              </a:rPr>
              <a:t>Encoder: </a:t>
            </a:r>
            <a:r>
              <a:rPr lang="en-US" sz="2000">
                <a:solidFill>
                  <a:schemeClr val="dk1"/>
                </a:solidFill>
              </a:rPr>
              <a:t>Understanding the input information.relationships between all tokens in the input sequence.</a:t>
            </a:r>
            <a:endParaRPr sz="2000">
              <a:solidFill>
                <a:schemeClr val="dk1"/>
              </a:solidFill>
            </a:endParaRPr>
          </a:p>
          <a:p>
            <a:pPr marL="0" lvl="0" indent="0" algn="just" rtl="0">
              <a:spcBef>
                <a:spcPts val="0"/>
              </a:spcBef>
              <a:spcAft>
                <a:spcPts val="0"/>
              </a:spcAft>
              <a:buNone/>
            </a:pPr>
            <a:endParaRPr sz="2000">
              <a:solidFill>
                <a:schemeClr val="dk1"/>
              </a:solidFill>
            </a:endParaRPr>
          </a:p>
          <a:p>
            <a:pPr marL="0" lvl="0" indent="0" algn="just" rtl="0">
              <a:spcBef>
                <a:spcPts val="0"/>
              </a:spcBef>
              <a:spcAft>
                <a:spcPts val="0"/>
              </a:spcAft>
              <a:buNone/>
            </a:pPr>
            <a:r>
              <a:rPr lang="en-US" sz="2000" b="1">
                <a:solidFill>
                  <a:schemeClr val="dk1"/>
                </a:solidFill>
              </a:rPr>
              <a:t>Multihead Attention Mechanism:</a:t>
            </a:r>
            <a:r>
              <a:rPr lang="en-US" sz="2000">
                <a:solidFill>
                  <a:schemeClr val="dk1"/>
                </a:solidFill>
              </a:rPr>
              <a:t> Main backbone of transformer based architecture. Find the importance of other words for each word based on contextual meaning, grammar sense, emotion, PoS, etc. </a:t>
            </a:r>
            <a:endParaRPr sz="2000" b="1">
              <a:solidFill>
                <a:schemeClr val="dk1"/>
              </a:solidFill>
            </a:endParaRPr>
          </a:p>
        </p:txBody>
      </p:sp>
      <p:sp>
        <p:nvSpPr>
          <p:cNvPr id="174" name="Google Shape;174;p30"/>
          <p:cNvSpPr/>
          <p:nvPr/>
        </p:nvSpPr>
        <p:spPr>
          <a:xfrm>
            <a:off x="317375" y="6020000"/>
            <a:ext cx="6576900" cy="669300"/>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t>Single Head Attention</a:t>
            </a:r>
            <a:r>
              <a:rPr lang="en-US" sz="1400" b="1" i="0" u="none" strike="noStrike" cap="none">
                <a:solidFill>
                  <a:srgbClr val="000000"/>
                </a:solidFill>
                <a:latin typeface="Arial"/>
                <a:ea typeface="Arial"/>
                <a:cs typeface="Arial"/>
                <a:sym typeface="Arial"/>
              </a:rPr>
              <a:t>: </a:t>
            </a:r>
            <a:r>
              <a:rPr lang="en-US"/>
              <a:t>It has only one head. It can only capture one importance like meaning/contextual meaning/grammar.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3b345adf54c_0_3"/>
          <p:cNvSpPr txBox="1"/>
          <p:nvPr/>
        </p:nvSpPr>
        <p:spPr>
          <a:xfrm>
            <a:off x="472324" y="184619"/>
            <a:ext cx="8267400" cy="9066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400"/>
              <a:buFont typeface="Play"/>
              <a:buNone/>
            </a:pPr>
            <a:r>
              <a:rPr lang="en-US" sz="4400" b="0" i="0" u="none" strike="noStrike" cap="none">
                <a:solidFill>
                  <a:schemeClr val="dk1"/>
                </a:solidFill>
                <a:latin typeface="Play"/>
                <a:ea typeface="Play"/>
                <a:cs typeface="Play"/>
                <a:sym typeface="Play"/>
              </a:rPr>
              <a:t>Transformers</a:t>
            </a:r>
            <a:endParaRPr sz="4400" b="0" i="0" u="none" strike="noStrike" cap="none">
              <a:solidFill>
                <a:schemeClr val="dk1"/>
              </a:solidFill>
              <a:latin typeface="Play"/>
              <a:ea typeface="Play"/>
              <a:cs typeface="Play"/>
              <a:sym typeface="Play"/>
            </a:endParaRPr>
          </a:p>
        </p:txBody>
      </p:sp>
      <p:sp>
        <p:nvSpPr>
          <p:cNvPr id="180" name="Google Shape;180;g3b345adf54c_0_3"/>
          <p:cNvSpPr txBox="1"/>
          <p:nvPr/>
        </p:nvSpPr>
        <p:spPr>
          <a:xfrm>
            <a:off x="548640" y="980024"/>
            <a:ext cx="47421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Attention Is All You Need</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181" name="Google Shape;181;g3b345adf54c_0_3"/>
          <p:cNvGrpSpPr/>
          <p:nvPr/>
        </p:nvGrpSpPr>
        <p:grpSpPr>
          <a:xfrm>
            <a:off x="7174060" y="0"/>
            <a:ext cx="4778359" cy="6512244"/>
            <a:chOff x="3573610" y="895358"/>
            <a:chExt cx="4778359" cy="6512244"/>
          </a:xfrm>
        </p:grpSpPr>
        <p:pic>
          <p:nvPicPr>
            <p:cNvPr id="182" name="Google Shape;182;g3b345adf54c_0_3" descr="Attention Is All You Need!. Demystifying the Transformer ..."/>
            <p:cNvPicPr preferRelativeResize="0"/>
            <p:nvPr/>
          </p:nvPicPr>
          <p:blipFill rotWithShape="1">
            <a:blip r:embed="rId4">
              <a:alphaModFix/>
            </a:blip>
            <a:srcRect/>
            <a:stretch/>
          </p:blipFill>
          <p:spPr>
            <a:xfrm>
              <a:off x="3573610" y="895358"/>
              <a:ext cx="4778359" cy="6512244"/>
            </a:xfrm>
            <a:prstGeom prst="rect">
              <a:avLst/>
            </a:prstGeom>
            <a:noFill/>
            <a:ln>
              <a:noFill/>
            </a:ln>
          </p:spPr>
        </p:pic>
        <p:sp>
          <p:nvSpPr>
            <p:cNvPr id="183" name="Google Shape;183;g3b345adf54c_0_3"/>
            <p:cNvSpPr txBox="1"/>
            <p:nvPr/>
          </p:nvSpPr>
          <p:spPr>
            <a:xfrm>
              <a:off x="6004984"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K</a:t>
              </a:r>
              <a:endParaRPr sz="1400" b="1" i="0" u="none" strike="noStrike" cap="none">
                <a:solidFill>
                  <a:srgbClr val="000000"/>
                </a:solidFill>
                <a:latin typeface="Arial"/>
                <a:ea typeface="Arial"/>
                <a:cs typeface="Arial"/>
                <a:sym typeface="Arial"/>
              </a:endParaRPr>
            </a:p>
          </p:txBody>
        </p:sp>
        <p:sp>
          <p:nvSpPr>
            <p:cNvPr id="184" name="Google Shape;184;g3b345adf54c_0_3"/>
            <p:cNvSpPr txBox="1"/>
            <p:nvPr/>
          </p:nvSpPr>
          <p:spPr>
            <a:xfrm>
              <a:off x="6360933"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V</a:t>
              </a:r>
              <a:endParaRPr sz="1400" b="1" i="0" u="none" strike="noStrike" cap="none">
                <a:solidFill>
                  <a:srgbClr val="000000"/>
                </a:solidFill>
                <a:latin typeface="Arial"/>
                <a:ea typeface="Arial"/>
                <a:cs typeface="Arial"/>
                <a:sym typeface="Arial"/>
              </a:endParaRPr>
            </a:p>
          </p:txBody>
        </p:sp>
        <p:sp>
          <p:nvSpPr>
            <p:cNvPr id="185" name="Google Shape;185;g3b345adf54c_0_3"/>
            <p:cNvSpPr txBox="1"/>
            <p:nvPr/>
          </p:nvSpPr>
          <p:spPr>
            <a:xfrm>
              <a:off x="6723233" y="3966005"/>
              <a:ext cx="30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Q</a:t>
              </a:r>
              <a:endParaRPr sz="1400" b="1" i="0" u="none" strike="noStrike" cap="none">
                <a:solidFill>
                  <a:srgbClr val="000000"/>
                </a:solidFill>
                <a:latin typeface="Arial"/>
                <a:ea typeface="Arial"/>
                <a:cs typeface="Arial"/>
                <a:sym typeface="Arial"/>
              </a:endParaRPr>
            </a:p>
          </p:txBody>
        </p:sp>
      </p:grpSp>
      <p:sp>
        <p:nvSpPr>
          <p:cNvPr id="186" name="Google Shape;186;g3b345adf54c_0_3"/>
          <p:cNvSpPr txBox="1"/>
          <p:nvPr/>
        </p:nvSpPr>
        <p:spPr>
          <a:xfrm>
            <a:off x="207750" y="1535700"/>
            <a:ext cx="6921900" cy="3786600"/>
          </a:xfrm>
          <a:prstGeom prst="rect">
            <a:avLst/>
          </a:prstGeom>
          <a:noFill/>
          <a:ln>
            <a:noFill/>
          </a:ln>
        </p:spPr>
        <p:txBody>
          <a:bodyPr spcFirstLastPara="1" wrap="square" lIns="91425" tIns="91425" rIns="91425" bIns="91425" anchor="t" anchorCtr="0">
            <a:spAutoFit/>
          </a:bodyPr>
          <a:lstStyle/>
          <a:p>
            <a:pPr marL="457200" lvl="0" indent="-342900" algn="just" rtl="0">
              <a:spcBef>
                <a:spcPts val="0"/>
              </a:spcBef>
              <a:spcAft>
                <a:spcPts val="0"/>
              </a:spcAft>
              <a:buClr>
                <a:schemeClr val="dk1"/>
              </a:buClr>
              <a:buSzPts val="1800"/>
              <a:buAutoNum type="arabicPeriod"/>
            </a:pPr>
            <a:r>
              <a:rPr lang="en-US" sz="1800" b="1">
                <a:solidFill>
                  <a:schemeClr val="dk1"/>
                </a:solidFill>
              </a:rPr>
              <a:t>Q, K, V: </a:t>
            </a:r>
            <a:r>
              <a:rPr lang="en-US" sz="1800">
                <a:solidFill>
                  <a:schemeClr val="dk1"/>
                </a:solidFill>
              </a:rPr>
              <a:t>Q and K determine attention weights based on dot-product similarity to generate attention scores, which are applied to V to produce context-aware outputs.</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Add &amp; Norm: </a:t>
            </a:r>
            <a:r>
              <a:rPr lang="en-US" sz="1800">
                <a:solidFill>
                  <a:schemeClr val="dk1"/>
                </a:solidFill>
              </a:rPr>
              <a:t>Add &amp; Norm functions as a residual block with layer normalization, preserving input information and stabilizing the output of the multi-head attention mechanism</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Feed Forward Network:</a:t>
            </a:r>
            <a:r>
              <a:rPr lang="en-US" sz="1800">
                <a:solidFill>
                  <a:schemeClr val="dk1"/>
                </a:solidFill>
              </a:rPr>
              <a:t> The FFN processes each token independently, adding nonlinear transformations so the model can learn complex features for each token. As multi-head attention doesn’t transform each token individually.</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Add &amp; Norm: </a:t>
            </a:r>
            <a:r>
              <a:rPr lang="en-US" sz="1800">
                <a:solidFill>
                  <a:schemeClr val="dk1"/>
                </a:solidFill>
              </a:rPr>
              <a:t>Add &amp; Norm keeps information safe and training stable.</a:t>
            </a:r>
            <a:endParaRPr sz="1800">
              <a:solidFill>
                <a:schemeClr val="dk1"/>
              </a:solidFill>
            </a:endParaRPr>
          </a:p>
          <a:p>
            <a:pPr marL="0" lvl="0" indent="0" algn="just" rtl="0">
              <a:spcBef>
                <a:spcPts val="0"/>
              </a:spcBef>
              <a:spcAft>
                <a:spcPts val="0"/>
              </a:spcAft>
              <a:buNone/>
            </a:pPr>
            <a:endParaRPr sz="1800" b="1">
              <a:solidFill>
                <a:schemeClr val="dk1"/>
              </a:solidFill>
            </a:endParaRPr>
          </a:p>
        </p:txBody>
      </p:sp>
      <p:sp>
        <p:nvSpPr>
          <p:cNvPr id="187" name="Google Shape;187;g3b345adf54c_0_3"/>
          <p:cNvSpPr/>
          <p:nvPr/>
        </p:nvSpPr>
        <p:spPr>
          <a:xfrm>
            <a:off x="317375" y="5898552"/>
            <a:ext cx="6576900" cy="790800"/>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solidFill>
                  <a:schemeClr val="dk1"/>
                </a:solidFill>
              </a:rPr>
              <a:t>Residual block</a:t>
            </a:r>
            <a:r>
              <a:rPr lang="en-US" sz="1400" b="1" i="0" u="none" strike="noStrike" cap="none">
                <a:solidFill>
                  <a:srgbClr val="000000"/>
                </a:solidFill>
                <a:latin typeface="Arial"/>
                <a:ea typeface="Arial"/>
                <a:cs typeface="Arial"/>
                <a:sym typeface="Arial"/>
              </a:rPr>
              <a:t>:</a:t>
            </a:r>
            <a:r>
              <a:rPr lang="en-US" b="1"/>
              <a:t> </a:t>
            </a:r>
            <a:r>
              <a:rPr lang="en-US"/>
              <a:t>A residual block skips over a layer or sublayer by adding the input directly to the output.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b345adf54c_0_27"/>
          <p:cNvSpPr txBox="1"/>
          <p:nvPr/>
        </p:nvSpPr>
        <p:spPr>
          <a:xfrm>
            <a:off x="472324" y="184619"/>
            <a:ext cx="8267400" cy="9066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400"/>
              <a:buFont typeface="Play"/>
              <a:buNone/>
            </a:pPr>
            <a:r>
              <a:rPr lang="en-US" sz="4400" b="0" i="0" u="none" strike="noStrike" cap="none">
                <a:solidFill>
                  <a:schemeClr val="dk1"/>
                </a:solidFill>
                <a:latin typeface="Play"/>
                <a:ea typeface="Play"/>
                <a:cs typeface="Play"/>
                <a:sym typeface="Play"/>
              </a:rPr>
              <a:t>Transformers</a:t>
            </a:r>
            <a:endParaRPr sz="4400" b="0" i="0" u="none" strike="noStrike" cap="none">
              <a:solidFill>
                <a:schemeClr val="dk1"/>
              </a:solidFill>
              <a:latin typeface="Play"/>
              <a:ea typeface="Play"/>
              <a:cs typeface="Play"/>
              <a:sym typeface="Play"/>
            </a:endParaRPr>
          </a:p>
        </p:txBody>
      </p:sp>
      <p:sp>
        <p:nvSpPr>
          <p:cNvPr id="193" name="Google Shape;193;g3b345adf54c_0_27"/>
          <p:cNvSpPr txBox="1"/>
          <p:nvPr/>
        </p:nvSpPr>
        <p:spPr>
          <a:xfrm>
            <a:off x="548640" y="980024"/>
            <a:ext cx="47421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Attention Is All You Need</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194" name="Google Shape;194;g3b345adf54c_0_27"/>
          <p:cNvGrpSpPr/>
          <p:nvPr/>
        </p:nvGrpSpPr>
        <p:grpSpPr>
          <a:xfrm>
            <a:off x="7174060" y="0"/>
            <a:ext cx="4778359" cy="6512244"/>
            <a:chOff x="3573610" y="895358"/>
            <a:chExt cx="4778359" cy="6512244"/>
          </a:xfrm>
        </p:grpSpPr>
        <p:pic>
          <p:nvPicPr>
            <p:cNvPr id="195" name="Google Shape;195;g3b345adf54c_0_27" descr="Attention Is All You Need!. Demystifying the Transformer ..."/>
            <p:cNvPicPr preferRelativeResize="0"/>
            <p:nvPr/>
          </p:nvPicPr>
          <p:blipFill rotWithShape="1">
            <a:blip r:embed="rId4">
              <a:alphaModFix/>
            </a:blip>
            <a:srcRect/>
            <a:stretch/>
          </p:blipFill>
          <p:spPr>
            <a:xfrm>
              <a:off x="3573610" y="895358"/>
              <a:ext cx="4778359" cy="6512244"/>
            </a:xfrm>
            <a:prstGeom prst="rect">
              <a:avLst/>
            </a:prstGeom>
            <a:noFill/>
            <a:ln>
              <a:noFill/>
            </a:ln>
          </p:spPr>
        </p:pic>
        <p:sp>
          <p:nvSpPr>
            <p:cNvPr id="196" name="Google Shape;196;g3b345adf54c_0_27"/>
            <p:cNvSpPr txBox="1"/>
            <p:nvPr/>
          </p:nvSpPr>
          <p:spPr>
            <a:xfrm>
              <a:off x="6004984"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K</a:t>
              </a:r>
              <a:endParaRPr sz="1400" b="1" i="0" u="none" strike="noStrike" cap="none">
                <a:solidFill>
                  <a:srgbClr val="000000"/>
                </a:solidFill>
                <a:latin typeface="Arial"/>
                <a:ea typeface="Arial"/>
                <a:cs typeface="Arial"/>
                <a:sym typeface="Arial"/>
              </a:endParaRPr>
            </a:p>
          </p:txBody>
        </p:sp>
        <p:sp>
          <p:nvSpPr>
            <p:cNvPr id="197" name="Google Shape;197;g3b345adf54c_0_27"/>
            <p:cNvSpPr txBox="1"/>
            <p:nvPr/>
          </p:nvSpPr>
          <p:spPr>
            <a:xfrm>
              <a:off x="6360933"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V</a:t>
              </a:r>
              <a:endParaRPr sz="1400" b="1" i="0" u="none" strike="noStrike" cap="none">
                <a:solidFill>
                  <a:srgbClr val="000000"/>
                </a:solidFill>
                <a:latin typeface="Arial"/>
                <a:ea typeface="Arial"/>
                <a:cs typeface="Arial"/>
                <a:sym typeface="Arial"/>
              </a:endParaRPr>
            </a:p>
          </p:txBody>
        </p:sp>
        <p:sp>
          <p:nvSpPr>
            <p:cNvPr id="198" name="Google Shape;198;g3b345adf54c_0_27"/>
            <p:cNvSpPr txBox="1"/>
            <p:nvPr/>
          </p:nvSpPr>
          <p:spPr>
            <a:xfrm>
              <a:off x="6723233" y="3966005"/>
              <a:ext cx="30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Q</a:t>
              </a:r>
              <a:endParaRPr sz="1400" b="1" i="0" u="none" strike="noStrike" cap="none">
                <a:solidFill>
                  <a:srgbClr val="000000"/>
                </a:solidFill>
                <a:latin typeface="Arial"/>
                <a:ea typeface="Arial"/>
                <a:cs typeface="Arial"/>
                <a:sym typeface="Arial"/>
              </a:endParaRPr>
            </a:p>
          </p:txBody>
        </p:sp>
      </p:grpSp>
      <p:sp>
        <p:nvSpPr>
          <p:cNvPr id="199" name="Google Shape;199;g3b345adf54c_0_27"/>
          <p:cNvSpPr txBox="1"/>
          <p:nvPr/>
        </p:nvSpPr>
        <p:spPr>
          <a:xfrm>
            <a:off x="207750" y="1535700"/>
            <a:ext cx="6921900" cy="3509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1800" b="1">
                <a:solidFill>
                  <a:schemeClr val="dk1"/>
                </a:solidFill>
              </a:rPr>
              <a:t>About Q, K, V</a:t>
            </a:r>
            <a:endParaRPr sz="1800" b="1">
              <a:solidFill>
                <a:schemeClr val="dk1"/>
              </a:solidFill>
            </a:endParaRPr>
          </a:p>
          <a:p>
            <a:pPr marL="0" lvl="0" indent="0" algn="just" rtl="0">
              <a:spcBef>
                <a:spcPts val="0"/>
              </a:spcBef>
              <a:spcAft>
                <a:spcPts val="0"/>
              </a:spcAft>
              <a:buNone/>
            </a:pPr>
            <a:endParaRPr sz="1800" b="1">
              <a:solidFill>
                <a:schemeClr val="dk1"/>
              </a:solidFill>
            </a:endParaRPr>
          </a:p>
          <a:p>
            <a:pPr marL="0" lvl="0" indent="0" algn="just" rtl="0">
              <a:spcBef>
                <a:spcPts val="0"/>
              </a:spcBef>
              <a:spcAft>
                <a:spcPts val="0"/>
              </a:spcAft>
              <a:buNone/>
            </a:pPr>
            <a:r>
              <a:rPr lang="en-US" sz="1800" b="1">
                <a:solidFill>
                  <a:schemeClr val="dk1"/>
                </a:solidFill>
              </a:rPr>
              <a:t>suppose we have a sentence:</a:t>
            </a:r>
            <a:endParaRPr sz="1800" b="1">
              <a:solidFill>
                <a:schemeClr val="dk1"/>
              </a:solidFill>
            </a:endParaRPr>
          </a:p>
          <a:p>
            <a:pPr marL="0" lvl="0" indent="0" algn="just" rtl="0">
              <a:spcBef>
                <a:spcPts val="0"/>
              </a:spcBef>
              <a:spcAft>
                <a:spcPts val="0"/>
              </a:spcAft>
              <a:buNone/>
            </a:pPr>
            <a:r>
              <a:rPr lang="en-US" sz="1800" b="1">
                <a:solidFill>
                  <a:srgbClr val="0000FF"/>
                </a:solidFill>
              </a:rPr>
              <a:t>Bank provides loan, because it has fund.</a:t>
            </a:r>
            <a:endParaRPr sz="1800" b="1">
              <a:solidFill>
                <a:srgbClr val="0000FF"/>
              </a:solidFill>
            </a:endParaRPr>
          </a:p>
          <a:p>
            <a:pPr marL="0" lvl="0" indent="0" algn="just" rtl="0">
              <a:spcBef>
                <a:spcPts val="0"/>
              </a:spcBef>
              <a:spcAft>
                <a:spcPts val="0"/>
              </a:spcAft>
              <a:buNone/>
            </a:pPr>
            <a:endParaRPr sz="1800" b="1">
              <a:solidFill>
                <a:srgbClr val="0000FF"/>
              </a:solidFill>
            </a:endParaRPr>
          </a:p>
          <a:p>
            <a:pPr marL="0" lvl="0" indent="0" algn="just" rtl="0">
              <a:spcBef>
                <a:spcPts val="0"/>
              </a:spcBef>
              <a:spcAft>
                <a:spcPts val="0"/>
              </a:spcAft>
              <a:buNone/>
            </a:pPr>
            <a:r>
              <a:rPr lang="en-US" sz="1800" b="1">
                <a:solidFill>
                  <a:srgbClr val="0000FF"/>
                </a:solidFill>
              </a:rPr>
              <a:t>Query (Q): what is “It” here?</a:t>
            </a:r>
            <a:endParaRPr sz="1800" b="1">
              <a:solidFill>
                <a:srgbClr val="0000FF"/>
              </a:solidFill>
            </a:endParaRPr>
          </a:p>
          <a:p>
            <a:pPr marL="0" lvl="0" indent="0" algn="just" rtl="0">
              <a:spcBef>
                <a:spcPts val="0"/>
              </a:spcBef>
              <a:spcAft>
                <a:spcPts val="0"/>
              </a:spcAft>
              <a:buNone/>
            </a:pPr>
            <a:r>
              <a:rPr lang="en-US" sz="1800" b="1">
                <a:solidFill>
                  <a:srgbClr val="0000FF"/>
                </a:solidFill>
              </a:rPr>
              <a:t>Keys (K): “Bank”, “provides”, “loan”, “because”, “it”, “has”, “fund”</a:t>
            </a:r>
            <a:endParaRPr sz="1800" b="1">
              <a:solidFill>
                <a:srgbClr val="0000FF"/>
              </a:solidFill>
            </a:endParaRPr>
          </a:p>
          <a:p>
            <a:pPr marL="0" lvl="0" indent="0" algn="just" rtl="0">
              <a:spcBef>
                <a:spcPts val="0"/>
              </a:spcBef>
              <a:spcAft>
                <a:spcPts val="0"/>
              </a:spcAft>
              <a:buNone/>
            </a:pPr>
            <a:r>
              <a:rPr lang="en-US" sz="1800" b="1">
                <a:solidFill>
                  <a:srgbClr val="0000FF"/>
                </a:solidFill>
              </a:rPr>
              <a:t>Value (V): After computing the dot product between Q and K to generate attention weights, these weights are multiplied with V to produce a context-aware vector for “it,” which is mostly influenced by “Bank.”</a:t>
            </a:r>
            <a:endParaRPr sz="1800" b="1">
              <a:solidFill>
                <a:srgbClr val="0000FF"/>
              </a:solidFill>
            </a:endParaRPr>
          </a:p>
        </p:txBody>
      </p:sp>
      <p:sp>
        <p:nvSpPr>
          <p:cNvPr id="200" name="Google Shape;200;g3b345adf54c_0_27"/>
          <p:cNvSpPr/>
          <p:nvPr/>
        </p:nvSpPr>
        <p:spPr>
          <a:xfrm>
            <a:off x="317375" y="5898552"/>
            <a:ext cx="6576900" cy="790800"/>
          </a:xfrm>
          <a:prstGeom prst="rect">
            <a:avLst/>
          </a:prstGeom>
          <a:solidFill>
            <a:srgbClr val="D8F3F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a:solidFill>
                  <a:schemeClr val="dk1"/>
                </a:solidFill>
              </a:rPr>
              <a:t>Residual block</a:t>
            </a:r>
            <a:r>
              <a:rPr lang="en-US" sz="1400" b="1" i="0" u="none" strike="noStrike" cap="none">
                <a:solidFill>
                  <a:srgbClr val="000000"/>
                </a:solidFill>
                <a:latin typeface="Arial"/>
                <a:ea typeface="Arial"/>
                <a:cs typeface="Arial"/>
                <a:sym typeface="Arial"/>
              </a:rPr>
              <a:t>:</a:t>
            </a:r>
            <a:r>
              <a:rPr lang="en-US" b="1"/>
              <a:t> </a:t>
            </a:r>
            <a:r>
              <a:rPr lang="en-US"/>
              <a:t>A residual block skips over a layer or sublayer by adding the input directly to the output.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b345adf54c_0_42"/>
          <p:cNvSpPr txBox="1"/>
          <p:nvPr/>
        </p:nvSpPr>
        <p:spPr>
          <a:xfrm>
            <a:off x="472324" y="184619"/>
            <a:ext cx="8267400" cy="9066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400"/>
              <a:buFont typeface="Play"/>
              <a:buNone/>
            </a:pPr>
            <a:r>
              <a:rPr lang="en-US" sz="4400" b="0" i="0" u="none" strike="noStrike" cap="none">
                <a:solidFill>
                  <a:schemeClr val="dk1"/>
                </a:solidFill>
                <a:latin typeface="Play"/>
                <a:ea typeface="Play"/>
                <a:cs typeface="Play"/>
                <a:sym typeface="Play"/>
              </a:rPr>
              <a:t>Transformers</a:t>
            </a:r>
            <a:endParaRPr sz="4400" b="0" i="0" u="none" strike="noStrike" cap="none">
              <a:solidFill>
                <a:schemeClr val="dk1"/>
              </a:solidFill>
              <a:latin typeface="Play"/>
              <a:ea typeface="Play"/>
              <a:cs typeface="Play"/>
              <a:sym typeface="Play"/>
            </a:endParaRPr>
          </a:p>
        </p:txBody>
      </p:sp>
      <p:sp>
        <p:nvSpPr>
          <p:cNvPr id="206" name="Google Shape;206;g3b345adf54c_0_42"/>
          <p:cNvSpPr txBox="1"/>
          <p:nvPr/>
        </p:nvSpPr>
        <p:spPr>
          <a:xfrm>
            <a:off x="548640" y="980024"/>
            <a:ext cx="47421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Attention Is All You Need</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207" name="Google Shape;207;g3b345adf54c_0_42"/>
          <p:cNvGrpSpPr/>
          <p:nvPr/>
        </p:nvGrpSpPr>
        <p:grpSpPr>
          <a:xfrm>
            <a:off x="7174060" y="0"/>
            <a:ext cx="4778359" cy="6512244"/>
            <a:chOff x="3573610" y="895358"/>
            <a:chExt cx="4778359" cy="6512244"/>
          </a:xfrm>
        </p:grpSpPr>
        <p:pic>
          <p:nvPicPr>
            <p:cNvPr id="208" name="Google Shape;208;g3b345adf54c_0_42" descr="Attention Is All You Need!. Demystifying the Transformer ..."/>
            <p:cNvPicPr preferRelativeResize="0"/>
            <p:nvPr/>
          </p:nvPicPr>
          <p:blipFill rotWithShape="1">
            <a:blip r:embed="rId4">
              <a:alphaModFix/>
            </a:blip>
            <a:srcRect/>
            <a:stretch/>
          </p:blipFill>
          <p:spPr>
            <a:xfrm>
              <a:off x="3573610" y="895358"/>
              <a:ext cx="4778359" cy="6512244"/>
            </a:xfrm>
            <a:prstGeom prst="rect">
              <a:avLst/>
            </a:prstGeom>
            <a:noFill/>
            <a:ln>
              <a:noFill/>
            </a:ln>
          </p:spPr>
        </p:pic>
        <p:sp>
          <p:nvSpPr>
            <p:cNvPr id="209" name="Google Shape;209;g3b345adf54c_0_42"/>
            <p:cNvSpPr txBox="1"/>
            <p:nvPr/>
          </p:nvSpPr>
          <p:spPr>
            <a:xfrm>
              <a:off x="6004984"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K</a:t>
              </a:r>
              <a:endParaRPr sz="1400" b="1" i="0" u="none" strike="noStrike" cap="none">
                <a:solidFill>
                  <a:srgbClr val="000000"/>
                </a:solidFill>
                <a:latin typeface="Arial"/>
                <a:ea typeface="Arial"/>
                <a:cs typeface="Arial"/>
                <a:sym typeface="Arial"/>
              </a:endParaRPr>
            </a:p>
          </p:txBody>
        </p:sp>
        <p:sp>
          <p:nvSpPr>
            <p:cNvPr id="210" name="Google Shape;210;g3b345adf54c_0_42"/>
            <p:cNvSpPr txBox="1"/>
            <p:nvPr/>
          </p:nvSpPr>
          <p:spPr>
            <a:xfrm>
              <a:off x="6360933"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V</a:t>
              </a:r>
              <a:endParaRPr sz="1400" b="1" i="0" u="none" strike="noStrike" cap="none">
                <a:solidFill>
                  <a:srgbClr val="000000"/>
                </a:solidFill>
                <a:latin typeface="Arial"/>
                <a:ea typeface="Arial"/>
                <a:cs typeface="Arial"/>
                <a:sym typeface="Arial"/>
              </a:endParaRPr>
            </a:p>
          </p:txBody>
        </p:sp>
        <p:sp>
          <p:nvSpPr>
            <p:cNvPr id="211" name="Google Shape;211;g3b345adf54c_0_42"/>
            <p:cNvSpPr txBox="1"/>
            <p:nvPr/>
          </p:nvSpPr>
          <p:spPr>
            <a:xfrm>
              <a:off x="6723233" y="3966005"/>
              <a:ext cx="30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Q</a:t>
              </a:r>
              <a:endParaRPr sz="1400" b="1" i="0" u="none" strike="noStrike" cap="none">
                <a:solidFill>
                  <a:srgbClr val="000000"/>
                </a:solidFill>
                <a:latin typeface="Arial"/>
                <a:ea typeface="Arial"/>
                <a:cs typeface="Arial"/>
                <a:sym typeface="Arial"/>
              </a:endParaRPr>
            </a:p>
          </p:txBody>
        </p:sp>
      </p:grpSp>
      <p:sp>
        <p:nvSpPr>
          <p:cNvPr id="212" name="Google Shape;212;g3b345adf54c_0_42"/>
          <p:cNvSpPr txBox="1"/>
          <p:nvPr/>
        </p:nvSpPr>
        <p:spPr>
          <a:xfrm>
            <a:off x="207750" y="1535700"/>
            <a:ext cx="6921900" cy="5725800"/>
          </a:xfrm>
          <a:prstGeom prst="rect">
            <a:avLst/>
          </a:prstGeom>
          <a:noFill/>
          <a:ln>
            <a:noFill/>
          </a:ln>
        </p:spPr>
        <p:txBody>
          <a:bodyPr spcFirstLastPara="1" wrap="square" lIns="91425" tIns="91425" rIns="91425" bIns="91425" anchor="t" anchorCtr="0">
            <a:spAutoFit/>
          </a:bodyPr>
          <a:lstStyle/>
          <a:p>
            <a:pPr marL="457200" lvl="0" indent="-342900" algn="just" rtl="0">
              <a:spcBef>
                <a:spcPts val="0"/>
              </a:spcBef>
              <a:spcAft>
                <a:spcPts val="0"/>
              </a:spcAft>
              <a:buClr>
                <a:schemeClr val="dk1"/>
              </a:buClr>
              <a:buSzPts val="1800"/>
              <a:buAutoNum type="arabicPeriod"/>
            </a:pPr>
            <a:r>
              <a:rPr lang="en-US" sz="1800" b="1">
                <a:solidFill>
                  <a:schemeClr val="dk1"/>
                </a:solidFill>
              </a:rPr>
              <a:t>Decoder: </a:t>
            </a:r>
            <a:r>
              <a:rPr lang="en-US" sz="1800">
                <a:solidFill>
                  <a:schemeClr val="dk1"/>
                </a:solidFill>
              </a:rPr>
              <a:t>The decoder is used for generation.</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Masked Multi Head Attention: </a:t>
            </a:r>
            <a:r>
              <a:rPr lang="en-US" sz="1800">
                <a:solidFill>
                  <a:schemeClr val="dk1"/>
                </a:solidFill>
              </a:rPr>
              <a:t>Masked multi-head self-attention ensures that, during word generation, each token can only attend to previous tokens from the decoder input embeddings allows the model to generate the next word step by step without seeing future words, preventing information leakage.</a:t>
            </a:r>
            <a:endParaRPr sz="1800" b="1">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Add &amp; Norm: </a:t>
            </a:r>
            <a:r>
              <a:rPr lang="en-US" sz="1800">
                <a:solidFill>
                  <a:schemeClr val="dk1"/>
                </a:solidFill>
              </a:rPr>
              <a:t>Add &amp; Norm functions as a residual block with layer normalization, preserving input information and stabilizing the output of the masked multi-head attention mechanism.</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Multi Head Attention: </a:t>
            </a:r>
            <a:r>
              <a:rPr lang="en-US" sz="1800">
                <a:solidFill>
                  <a:schemeClr val="dk1"/>
                </a:solidFill>
              </a:rPr>
              <a:t>Encoder-Decoder Cross attention. K and V from encoder &amp; Q from decoder</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Feed Forward Network:</a:t>
            </a:r>
            <a:r>
              <a:rPr lang="en-US" sz="1800">
                <a:solidFill>
                  <a:schemeClr val="dk1"/>
                </a:solidFill>
              </a:rPr>
              <a:t> The FFN processes each token independently, adding nonlinear transformations so the model can learn complex features for each token. As multi-head attention doesn’t transform each token individually.</a:t>
            </a: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Add &amp; Norm: </a:t>
            </a:r>
            <a:r>
              <a:rPr lang="en-US" sz="1800">
                <a:solidFill>
                  <a:schemeClr val="dk1"/>
                </a:solidFill>
              </a:rPr>
              <a:t>Add &amp; Norm keeps information safe and training stable.</a:t>
            </a:r>
            <a:endParaRPr sz="1800">
              <a:solidFill>
                <a:schemeClr val="dk1"/>
              </a:solidFill>
            </a:endParaRPr>
          </a:p>
          <a:p>
            <a:pPr marL="0" lvl="0" indent="0" algn="just" rtl="0">
              <a:spcBef>
                <a:spcPts val="0"/>
              </a:spcBef>
              <a:spcAft>
                <a:spcPts val="0"/>
              </a:spcAft>
              <a:buNone/>
            </a:pPr>
            <a:endParaRPr sz="1800"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b345adf54c_0_55"/>
          <p:cNvSpPr txBox="1"/>
          <p:nvPr/>
        </p:nvSpPr>
        <p:spPr>
          <a:xfrm>
            <a:off x="472324" y="184619"/>
            <a:ext cx="8267400" cy="9066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400"/>
              <a:buFont typeface="Play"/>
              <a:buNone/>
            </a:pPr>
            <a:r>
              <a:rPr lang="en-US" sz="4400" b="0" i="0" u="none" strike="noStrike" cap="none">
                <a:solidFill>
                  <a:schemeClr val="dk1"/>
                </a:solidFill>
                <a:latin typeface="Play"/>
                <a:ea typeface="Play"/>
                <a:cs typeface="Play"/>
                <a:sym typeface="Play"/>
              </a:rPr>
              <a:t>Transformers</a:t>
            </a:r>
            <a:endParaRPr sz="4400" b="0" i="0" u="none" strike="noStrike" cap="none">
              <a:solidFill>
                <a:schemeClr val="dk1"/>
              </a:solidFill>
              <a:latin typeface="Play"/>
              <a:ea typeface="Play"/>
              <a:cs typeface="Play"/>
              <a:sym typeface="Play"/>
            </a:endParaRPr>
          </a:p>
        </p:txBody>
      </p:sp>
      <p:sp>
        <p:nvSpPr>
          <p:cNvPr id="218" name="Google Shape;218;g3b345adf54c_0_55"/>
          <p:cNvSpPr txBox="1"/>
          <p:nvPr/>
        </p:nvSpPr>
        <p:spPr>
          <a:xfrm>
            <a:off x="548640" y="980024"/>
            <a:ext cx="47421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Attention Is All You Need</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219" name="Google Shape;219;g3b345adf54c_0_55"/>
          <p:cNvGrpSpPr/>
          <p:nvPr/>
        </p:nvGrpSpPr>
        <p:grpSpPr>
          <a:xfrm>
            <a:off x="7174060" y="0"/>
            <a:ext cx="4778359" cy="6512244"/>
            <a:chOff x="3573610" y="895358"/>
            <a:chExt cx="4778359" cy="6512244"/>
          </a:xfrm>
        </p:grpSpPr>
        <p:pic>
          <p:nvPicPr>
            <p:cNvPr id="220" name="Google Shape;220;g3b345adf54c_0_55" descr="Attention Is All You Need!. Demystifying the Transformer ..."/>
            <p:cNvPicPr preferRelativeResize="0"/>
            <p:nvPr/>
          </p:nvPicPr>
          <p:blipFill rotWithShape="1">
            <a:blip r:embed="rId4">
              <a:alphaModFix/>
            </a:blip>
            <a:srcRect/>
            <a:stretch/>
          </p:blipFill>
          <p:spPr>
            <a:xfrm>
              <a:off x="3573610" y="895358"/>
              <a:ext cx="4778359" cy="6512244"/>
            </a:xfrm>
            <a:prstGeom prst="rect">
              <a:avLst/>
            </a:prstGeom>
            <a:noFill/>
            <a:ln>
              <a:noFill/>
            </a:ln>
          </p:spPr>
        </p:pic>
        <p:sp>
          <p:nvSpPr>
            <p:cNvPr id="221" name="Google Shape;221;g3b345adf54c_0_55"/>
            <p:cNvSpPr txBox="1"/>
            <p:nvPr/>
          </p:nvSpPr>
          <p:spPr>
            <a:xfrm>
              <a:off x="6004984"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K</a:t>
              </a:r>
              <a:endParaRPr sz="1400" b="1" i="0" u="none" strike="noStrike" cap="none">
                <a:solidFill>
                  <a:srgbClr val="000000"/>
                </a:solidFill>
                <a:latin typeface="Arial"/>
                <a:ea typeface="Arial"/>
                <a:cs typeface="Arial"/>
                <a:sym typeface="Arial"/>
              </a:endParaRPr>
            </a:p>
          </p:txBody>
        </p:sp>
        <p:sp>
          <p:nvSpPr>
            <p:cNvPr id="222" name="Google Shape;222;g3b345adf54c_0_55"/>
            <p:cNvSpPr txBox="1"/>
            <p:nvPr/>
          </p:nvSpPr>
          <p:spPr>
            <a:xfrm>
              <a:off x="6360933" y="3962400"/>
              <a:ext cx="32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V</a:t>
              </a:r>
              <a:endParaRPr sz="1400" b="1" i="0" u="none" strike="noStrike" cap="none">
                <a:solidFill>
                  <a:srgbClr val="000000"/>
                </a:solidFill>
                <a:latin typeface="Arial"/>
                <a:ea typeface="Arial"/>
                <a:cs typeface="Arial"/>
                <a:sym typeface="Arial"/>
              </a:endParaRPr>
            </a:p>
          </p:txBody>
        </p:sp>
        <p:sp>
          <p:nvSpPr>
            <p:cNvPr id="223" name="Google Shape;223;g3b345adf54c_0_55"/>
            <p:cNvSpPr txBox="1"/>
            <p:nvPr/>
          </p:nvSpPr>
          <p:spPr>
            <a:xfrm>
              <a:off x="6723233" y="3966005"/>
              <a:ext cx="304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a:t>Q</a:t>
              </a:r>
              <a:endParaRPr sz="1400" b="1" i="0" u="none" strike="noStrike" cap="none">
                <a:solidFill>
                  <a:srgbClr val="000000"/>
                </a:solidFill>
                <a:latin typeface="Arial"/>
                <a:ea typeface="Arial"/>
                <a:cs typeface="Arial"/>
                <a:sym typeface="Arial"/>
              </a:endParaRPr>
            </a:p>
          </p:txBody>
        </p:sp>
      </p:grpSp>
      <p:sp>
        <p:nvSpPr>
          <p:cNvPr id="224" name="Google Shape;224;g3b345adf54c_0_55"/>
          <p:cNvSpPr txBox="1"/>
          <p:nvPr/>
        </p:nvSpPr>
        <p:spPr>
          <a:xfrm>
            <a:off x="207750" y="1535700"/>
            <a:ext cx="6921900" cy="5479800"/>
          </a:xfrm>
          <a:prstGeom prst="rect">
            <a:avLst/>
          </a:prstGeom>
          <a:noFill/>
          <a:ln>
            <a:noFill/>
          </a:ln>
        </p:spPr>
        <p:txBody>
          <a:bodyPr spcFirstLastPara="1" wrap="square" lIns="91425" tIns="91425" rIns="91425" bIns="91425" anchor="t" anchorCtr="0">
            <a:spAutoFit/>
          </a:bodyPr>
          <a:lstStyle/>
          <a:p>
            <a:pPr marL="457200" lvl="0" indent="-342900" algn="just" rtl="0">
              <a:spcBef>
                <a:spcPts val="0"/>
              </a:spcBef>
              <a:spcAft>
                <a:spcPts val="0"/>
              </a:spcAft>
              <a:buClr>
                <a:schemeClr val="dk1"/>
              </a:buClr>
              <a:buSzPts val="1800"/>
              <a:buAutoNum type="arabicPeriod"/>
            </a:pPr>
            <a:r>
              <a:rPr lang="en-US" sz="1800" b="1">
                <a:solidFill>
                  <a:schemeClr val="dk1"/>
                </a:solidFill>
              </a:rPr>
              <a:t>Linear: </a:t>
            </a:r>
            <a:r>
              <a:rPr lang="en-US" sz="1800">
                <a:solidFill>
                  <a:schemeClr val="dk1"/>
                </a:solidFill>
              </a:rPr>
              <a:t>The linear layer ranks all vocabulary words by how likely they are to be the next word, based on the decoder's understanding of previous words. Negative values indicate less relevance, while larger positive values indicate higher relevance.</a:t>
            </a:r>
            <a:endParaRPr sz="1800">
              <a:solidFill>
                <a:schemeClr val="dk1"/>
              </a:solidFill>
            </a:endParaRPr>
          </a:p>
          <a:p>
            <a:pPr marL="0" lvl="0" indent="0" algn="just" rtl="0">
              <a:spcBef>
                <a:spcPts val="0"/>
              </a:spcBef>
              <a:spcAft>
                <a:spcPts val="0"/>
              </a:spcAft>
              <a:buNone/>
            </a:pPr>
            <a:r>
              <a:rPr lang="en-US" b="1">
                <a:solidFill>
                  <a:srgbClr val="38761D"/>
                </a:solidFill>
              </a:rPr>
              <a:t>Decoder output vector = [0.4, -1.2, 2.1, ...]   (512 numbers)</a:t>
            </a:r>
            <a:endParaRPr b="1">
              <a:solidFill>
                <a:srgbClr val="38761D"/>
              </a:solidFill>
            </a:endParaRPr>
          </a:p>
          <a:p>
            <a:pPr marL="0" lvl="0" indent="0" algn="just" rtl="0">
              <a:spcBef>
                <a:spcPts val="0"/>
              </a:spcBef>
              <a:spcAft>
                <a:spcPts val="0"/>
              </a:spcAft>
              <a:buNone/>
            </a:pPr>
            <a:r>
              <a:rPr lang="en-US" b="1">
                <a:solidFill>
                  <a:srgbClr val="38761D"/>
                </a:solidFill>
              </a:rPr>
              <a:t>Vocab List = ["cats", "dogs", "pizza", "bank", "running"]</a:t>
            </a:r>
            <a:endParaRPr b="1">
              <a:solidFill>
                <a:srgbClr val="38761D"/>
              </a:solidFill>
            </a:endParaRPr>
          </a:p>
          <a:p>
            <a:pPr marL="0" lvl="0" indent="0" algn="just" rtl="0">
              <a:spcBef>
                <a:spcPts val="0"/>
              </a:spcBef>
              <a:spcAft>
                <a:spcPts val="0"/>
              </a:spcAft>
              <a:buNone/>
            </a:pPr>
            <a:r>
              <a:rPr lang="en-US" b="1">
                <a:solidFill>
                  <a:srgbClr val="38761D"/>
                </a:solidFill>
              </a:rPr>
              <a:t>Output:</a:t>
            </a:r>
            <a:endParaRPr b="1">
              <a:solidFill>
                <a:srgbClr val="38761D"/>
              </a:solidFill>
            </a:endParaRPr>
          </a:p>
          <a:p>
            <a:pPr marL="0" lvl="0" indent="0" algn="just" rtl="0">
              <a:spcBef>
                <a:spcPts val="0"/>
              </a:spcBef>
              <a:spcAft>
                <a:spcPts val="0"/>
              </a:spcAft>
              <a:buNone/>
            </a:pPr>
            <a:r>
              <a:rPr lang="en-US" b="1">
                <a:solidFill>
                  <a:srgbClr val="38761D"/>
                </a:solidFill>
              </a:rPr>
              <a:t>cats     →  5.8</a:t>
            </a:r>
            <a:endParaRPr b="1">
              <a:solidFill>
                <a:srgbClr val="38761D"/>
              </a:solidFill>
            </a:endParaRPr>
          </a:p>
          <a:p>
            <a:pPr marL="0" lvl="0" indent="0" algn="just" rtl="0">
              <a:spcBef>
                <a:spcPts val="0"/>
              </a:spcBef>
              <a:spcAft>
                <a:spcPts val="0"/>
              </a:spcAft>
              <a:buNone/>
            </a:pPr>
            <a:r>
              <a:rPr lang="en-US" b="1">
                <a:solidFill>
                  <a:srgbClr val="38761D"/>
                </a:solidFill>
              </a:rPr>
              <a:t>dogs     →  5.1</a:t>
            </a:r>
            <a:endParaRPr b="1">
              <a:solidFill>
                <a:srgbClr val="38761D"/>
              </a:solidFill>
            </a:endParaRPr>
          </a:p>
          <a:p>
            <a:pPr marL="0" lvl="0" indent="0" algn="just" rtl="0">
              <a:spcBef>
                <a:spcPts val="0"/>
              </a:spcBef>
              <a:spcAft>
                <a:spcPts val="0"/>
              </a:spcAft>
              <a:buNone/>
            </a:pPr>
            <a:r>
              <a:rPr lang="en-US" b="1">
                <a:solidFill>
                  <a:srgbClr val="38761D"/>
                </a:solidFill>
              </a:rPr>
              <a:t>pizza    →  6.3</a:t>
            </a:r>
            <a:endParaRPr b="1">
              <a:solidFill>
                <a:srgbClr val="38761D"/>
              </a:solidFill>
            </a:endParaRPr>
          </a:p>
          <a:p>
            <a:pPr marL="0" lvl="0" indent="0" algn="just" rtl="0">
              <a:spcBef>
                <a:spcPts val="0"/>
              </a:spcBef>
              <a:spcAft>
                <a:spcPts val="0"/>
              </a:spcAft>
              <a:buNone/>
            </a:pPr>
            <a:r>
              <a:rPr lang="en-US" b="1">
                <a:solidFill>
                  <a:srgbClr val="38761D"/>
                </a:solidFill>
              </a:rPr>
              <a:t>bank     → -2.4</a:t>
            </a:r>
            <a:endParaRPr b="1">
              <a:solidFill>
                <a:srgbClr val="38761D"/>
              </a:solidFill>
            </a:endParaRPr>
          </a:p>
          <a:p>
            <a:pPr marL="0" lvl="0" indent="0" algn="just" rtl="0">
              <a:spcBef>
                <a:spcPts val="0"/>
              </a:spcBef>
              <a:spcAft>
                <a:spcPts val="0"/>
              </a:spcAft>
              <a:buNone/>
            </a:pPr>
            <a:r>
              <a:rPr lang="en-US" b="1">
                <a:solidFill>
                  <a:srgbClr val="38761D"/>
                </a:solidFill>
              </a:rPr>
              <a:t>running  → -1.8</a:t>
            </a:r>
            <a:endParaRPr>
              <a:solidFill>
                <a:schemeClr val="dk1"/>
              </a:solidFill>
            </a:endParaRPr>
          </a:p>
          <a:p>
            <a:pPr marL="0" lvl="0" indent="0" algn="just" rtl="0">
              <a:spcBef>
                <a:spcPts val="0"/>
              </a:spcBef>
              <a:spcAft>
                <a:spcPts val="0"/>
              </a:spcAft>
              <a:buNone/>
            </a:pPr>
            <a:endParaRPr sz="1800">
              <a:solidFill>
                <a:schemeClr val="dk1"/>
              </a:solidFill>
            </a:endParaRPr>
          </a:p>
          <a:p>
            <a:pPr marL="457200" lvl="0" indent="-342900" algn="just" rtl="0">
              <a:spcBef>
                <a:spcPts val="0"/>
              </a:spcBef>
              <a:spcAft>
                <a:spcPts val="0"/>
              </a:spcAft>
              <a:buClr>
                <a:schemeClr val="dk1"/>
              </a:buClr>
              <a:buSzPts val="1800"/>
              <a:buAutoNum type="arabicPeriod"/>
            </a:pPr>
            <a:r>
              <a:rPr lang="en-US" sz="1800" b="1">
                <a:solidFill>
                  <a:schemeClr val="dk1"/>
                </a:solidFill>
              </a:rPr>
              <a:t>Softmax: </a:t>
            </a:r>
            <a:r>
              <a:rPr lang="en-US" sz="1800">
                <a:solidFill>
                  <a:schemeClr val="dk1"/>
                </a:solidFill>
              </a:rPr>
              <a:t>Softmax normalizes the score into probability. And generate predicted text outcome with probabilistic value. Best one will be chosen.</a:t>
            </a:r>
            <a:endParaRPr sz="1800">
              <a:solidFill>
                <a:schemeClr val="dk1"/>
              </a:solidFill>
            </a:endParaRPr>
          </a:p>
          <a:p>
            <a:pPr marL="457200" lvl="0" indent="0" algn="just" rtl="0">
              <a:spcBef>
                <a:spcPts val="0"/>
              </a:spcBef>
              <a:spcAft>
                <a:spcPts val="0"/>
              </a:spcAft>
              <a:buNone/>
            </a:pPr>
            <a:r>
              <a:rPr lang="en-US" b="1">
                <a:solidFill>
                  <a:schemeClr val="accent6"/>
                </a:solidFill>
              </a:rPr>
              <a:t>cats     → 0.28</a:t>
            </a:r>
            <a:endParaRPr b="1">
              <a:solidFill>
                <a:schemeClr val="accent6"/>
              </a:solidFill>
            </a:endParaRPr>
          </a:p>
          <a:p>
            <a:pPr marL="457200" lvl="0" indent="0" algn="just" rtl="0">
              <a:spcBef>
                <a:spcPts val="0"/>
              </a:spcBef>
              <a:spcAft>
                <a:spcPts val="0"/>
              </a:spcAft>
              <a:buNone/>
            </a:pPr>
            <a:r>
              <a:rPr lang="en-US" b="1">
                <a:solidFill>
                  <a:schemeClr val="accent6"/>
                </a:solidFill>
              </a:rPr>
              <a:t>dogs     → 0.19</a:t>
            </a:r>
            <a:endParaRPr b="1">
              <a:solidFill>
                <a:schemeClr val="accent6"/>
              </a:solidFill>
            </a:endParaRPr>
          </a:p>
          <a:p>
            <a:pPr marL="457200" lvl="0" indent="0" algn="just" rtl="0">
              <a:spcBef>
                <a:spcPts val="0"/>
              </a:spcBef>
              <a:spcAft>
                <a:spcPts val="0"/>
              </a:spcAft>
              <a:buNone/>
            </a:pPr>
            <a:r>
              <a:rPr lang="en-US" b="1">
                <a:solidFill>
                  <a:schemeClr val="accent6"/>
                </a:solidFill>
              </a:rPr>
              <a:t>pizza    → 0.45</a:t>
            </a:r>
            <a:endParaRPr b="1">
              <a:solidFill>
                <a:schemeClr val="accent6"/>
              </a:solidFill>
            </a:endParaRPr>
          </a:p>
          <a:p>
            <a:pPr marL="457200" lvl="0" indent="0" algn="just" rtl="0">
              <a:spcBef>
                <a:spcPts val="0"/>
              </a:spcBef>
              <a:spcAft>
                <a:spcPts val="0"/>
              </a:spcAft>
              <a:buNone/>
            </a:pPr>
            <a:r>
              <a:rPr lang="en-US" b="1">
                <a:solidFill>
                  <a:schemeClr val="accent6"/>
                </a:solidFill>
              </a:rPr>
              <a:t>bank     → 0.02</a:t>
            </a:r>
            <a:endParaRPr b="1">
              <a:solidFill>
                <a:schemeClr val="accent6"/>
              </a:solidFill>
            </a:endParaRPr>
          </a:p>
          <a:p>
            <a:pPr marL="457200" lvl="0" indent="0" algn="just" rtl="0">
              <a:spcBef>
                <a:spcPts val="0"/>
              </a:spcBef>
              <a:spcAft>
                <a:spcPts val="0"/>
              </a:spcAft>
              <a:buNone/>
            </a:pPr>
            <a:r>
              <a:rPr lang="en-US" b="1">
                <a:solidFill>
                  <a:schemeClr val="accent6"/>
                </a:solidFill>
              </a:rPr>
              <a:t>running  → 0.06</a:t>
            </a:r>
            <a:endParaRPr sz="1800"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b345adf54c_0_72"/>
          <p:cNvSpPr txBox="1"/>
          <p:nvPr/>
        </p:nvSpPr>
        <p:spPr>
          <a:xfrm>
            <a:off x="723475" y="0"/>
            <a:ext cx="11468400" cy="12492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2420"/>
              <a:buFont typeface="Play"/>
              <a:buNone/>
            </a:pPr>
            <a:r>
              <a:rPr lang="en-US" sz="3000" b="1">
                <a:solidFill>
                  <a:schemeClr val="dk1"/>
                </a:solidFill>
                <a:latin typeface="Play"/>
                <a:ea typeface="Play"/>
                <a:cs typeface="Play"/>
                <a:sym typeface="Play"/>
              </a:rPr>
              <a:t>LLM Model, Finetuning, and Quantization (LoRA, QLoRA, GGUF, Llama.cpp)</a:t>
            </a:r>
            <a:endParaRPr sz="3000" b="1">
              <a:solidFill>
                <a:schemeClr val="dk1"/>
              </a:solidFill>
              <a:latin typeface="Play"/>
              <a:ea typeface="Play"/>
              <a:cs typeface="Play"/>
              <a:sym typeface="Play"/>
            </a:endParaRPr>
          </a:p>
        </p:txBody>
      </p:sp>
      <p:sp>
        <p:nvSpPr>
          <p:cNvPr id="230" name="Google Shape;230;g3b345adf54c_0_72"/>
          <p:cNvSpPr txBox="1"/>
          <p:nvPr/>
        </p:nvSpPr>
        <p:spPr>
          <a:xfrm>
            <a:off x="552600" y="1374125"/>
            <a:ext cx="6151200" cy="4125000"/>
          </a:xfrm>
          <a:prstGeom prst="rect">
            <a:avLst/>
          </a:prstGeom>
          <a:noFill/>
          <a:ln>
            <a:noFill/>
          </a:ln>
        </p:spPr>
        <p:txBody>
          <a:bodyPr spcFirstLastPara="1" wrap="square" lIns="91425" tIns="91425" rIns="91425" bIns="91425" anchor="t" anchorCtr="0">
            <a:spAutoFit/>
          </a:bodyPr>
          <a:lstStyle/>
          <a:p>
            <a:pPr marL="457200" lvl="0" indent="-330200" algn="just" rtl="0">
              <a:spcBef>
                <a:spcPts val="0"/>
              </a:spcBef>
              <a:spcAft>
                <a:spcPts val="0"/>
              </a:spcAft>
              <a:buClr>
                <a:schemeClr val="dk1"/>
              </a:buClr>
              <a:buSzPts val="1600"/>
              <a:buAutoNum type="arabicPeriod"/>
            </a:pPr>
            <a:r>
              <a:rPr lang="en-US" sz="1600" b="1">
                <a:solidFill>
                  <a:schemeClr val="dk1"/>
                </a:solidFill>
              </a:rPr>
              <a:t>Base Model / Foundation Model:</a:t>
            </a:r>
            <a:endParaRPr sz="1600" b="1">
              <a:solidFill>
                <a:schemeClr val="dk1"/>
              </a:solidFill>
            </a:endParaRPr>
          </a:p>
          <a:p>
            <a:pPr marL="457200" lvl="0" indent="0" algn="just" rtl="0">
              <a:spcBef>
                <a:spcPts val="0"/>
              </a:spcBef>
              <a:spcAft>
                <a:spcPts val="0"/>
              </a:spcAft>
              <a:buNone/>
            </a:pPr>
            <a:r>
              <a:rPr lang="en-US" sz="1600">
                <a:solidFill>
                  <a:schemeClr val="dk1"/>
                </a:solidFill>
              </a:rPr>
              <a:t>LLM trained on large-scale data with billions of parameters to learn general language representations.</a:t>
            </a:r>
            <a:endParaRPr sz="1600">
              <a:solidFill>
                <a:schemeClr val="dk1"/>
              </a:solidFill>
            </a:endParaRPr>
          </a:p>
          <a:p>
            <a:pPr marL="457200" lvl="0" indent="0" algn="just" rtl="0">
              <a:spcBef>
                <a:spcPts val="0"/>
              </a:spcBef>
              <a:spcAft>
                <a:spcPts val="0"/>
              </a:spcAft>
              <a:buNone/>
            </a:pPr>
            <a:endParaRPr sz="1600">
              <a:solidFill>
                <a:schemeClr val="dk1"/>
              </a:solidFill>
            </a:endParaRPr>
          </a:p>
          <a:p>
            <a:pPr marL="457200" lvl="0" indent="-330200" algn="just" rtl="0">
              <a:spcBef>
                <a:spcPts val="0"/>
              </a:spcBef>
              <a:spcAft>
                <a:spcPts val="0"/>
              </a:spcAft>
              <a:buClr>
                <a:schemeClr val="dk1"/>
              </a:buClr>
              <a:buSzPts val="1600"/>
              <a:buAutoNum type="arabicPeriod"/>
            </a:pPr>
            <a:r>
              <a:rPr lang="en-US" sz="1600" b="1">
                <a:solidFill>
                  <a:schemeClr val="dk1"/>
                </a:solidFill>
              </a:rPr>
              <a:t>Fine Tuning:</a:t>
            </a:r>
            <a:endParaRPr sz="1600" b="1">
              <a:solidFill>
                <a:schemeClr val="dk1"/>
              </a:solidFill>
            </a:endParaRPr>
          </a:p>
          <a:p>
            <a:pPr marL="457200" lvl="0" indent="0" algn="just" rtl="0">
              <a:spcBef>
                <a:spcPts val="0"/>
              </a:spcBef>
              <a:spcAft>
                <a:spcPts val="0"/>
              </a:spcAft>
              <a:buNone/>
            </a:pPr>
            <a:r>
              <a:rPr lang="en-US" sz="1600">
                <a:solidFill>
                  <a:schemeClr val="dk1"/>
                </a:solidFill>
              </a:rPr>
              <a:t>Adapts a foundation model for task-specific work. Model weights may be fully fine-tuned or kept frozen while adding adapters (such as LoRA/QLoRA) to efficiently learn new task-specific knowledge.</a:t>
            </a:r>
            <a:endParaRPr sz="1600">
              <a:solidFill>
                <a:schemeClr val="dk1"/>
              </a:solidFill>
            </a:endParaRPr>
          </a:p>
          <a:p>
            <a:pPr marL="457200" lvl="0" indent="0" algn="just" rtl="0">
              <a:spcBef>
                <a:spcPts val="0"/>
              </a:spcBef>
              <a:spcAft>
                <a:spcPts val="0"/>
              </a:spcAft>
              <a:buNone/>
            </a:pPr>
            <a:endParaRPr sz="1600">
              <a:solidFill>
                <a:schemeClr val="dk1"/>
              </a:solidFill>
            </a:endParaRPr>
          </a:p>
          <a:p>
            <a:pPr marL="457200" lvl="0" indent="-330200" algn="just" rtl="0">
              <a:spcBef>
                <a:spcPts val="0"/>
              </a:spcBef>
              <a:spcAft>
                <a:spcPts val="0"/>
              </a:spcAft>
              <a:buClr>
                <a:schemeClr val="dk1"/>
              </a:buClr>
              <a:buSzPts val="1600"/>
              <a:buAutoNum type="arabicPeriod"/>
            </a:pPr>
            <a:r>
              <a:rPr lang="en-US" sz="1600" b="1">
                <a:solidFill>
                  <a:schemeClr val="dk1"/>
                </a:solidFill>
              </a:rPr>
              <a:t>Quantization:</a:t>
            </a:r>
            <a:endParaRPr sz="1600" b="1">
              <a:solidFill>
                <a:schemeClr val="dk1"/>
              </a:solidFill>
            </a:endParaRPr>
          </a:p>
          <a:p>
            <a:pPr marL="457200" lvl="0" indent="0" algn="just" rtl="0">
              <a:spcBef>
                <a:spcPts val="0"/>
              </a:spcBef>
              <a:spcAft>
                <a:spcPts val="0"/>
              </a:spcAft>
              <a:buNone/>
            </a:pPr>
            <a:r>
              <a:rPr lang="en-US" sz="1600">
                <a:solidFill>
                  <a:schemeClr val="dk1"/>
                </a:solidFill>
              </a:rPr>
              <a:t>Reduces model weight precision (e.g., FP16 to INT8 or INT4) to lower memory usage and computational cost, enabling faster inference in resource-constrained environments with minimal accuracy loss.</a:t>
            </a:r>
            <a:endParaRPr sz="1600">
              <a:solidFill>
                <a:schemeClr val="dk1"/>
              </a:solidFill>
            </a:endParaRPr>
          </a:p>
          <a:p>
            <a:pPr marL="0" lvl="0" indent="0" algn="just" rtl="0">
              <a:spcBef>
                <a:spcPts val="0"/>
              </a:spcBef>
              <a:spcAft>
                <a:spcPts val="0"/>
              </a:spcAft>
              <a:buNone/>
            </a:pPr>
            <a:endParaRPr sz="16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b345adf54c_0_87"/>
          <p:cNvSpPr txBox="1"/>
          <p:nvPr/>
        </p:nvSpPr>
        <p:spPr>
          <a:xfrm>
            <a:off x="0" y="0"/>
            <a:ext cx="12192000" cy="12492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2420"/>
              <a:buFont typeface="Play"/>
              <a:buNone/>
            </a:pPr>
            <a:r>
              <a:rPr lang="en-US" sz="3000" b="1">
                <a:solidFill>
                  <a:schemeClr val="dk1"/>
                </a:solidFill>
                <a:latin typeface="Play"/>
                <a:ea typeface="Play"/>
                <a:cs typeface="Play"/>
                <a:sym typeface="Play"/>
              </a:rPr>
              <a:t>LLM Model, Finetuning, and Quantization (LoRA, QLoRA, GGUF, Llama.cpp)</a:t>
            </a:r>
            <a:endParaRPr sz="3000" b="1">
              <a:solidFill>
                <a:schemeClr val="dk1"/>
              </a:solidFill>
              <a:latin typeface="Play"/>
              <a:ea typeface="Play"/>
              <a:cs typeface="Play"/>
              <a:sym typeface="Play"/>
            </a:endParaRPr>
          </a:p>
        </p:txBody>
      </p:sp>
      <p:sp>
        <p:nvSpPr>
          <p:cNvPr id="236" name="Google Shape;236;g3b345adf54c_0_87"/>
          <p:cNvSpPr txBox="1"/>
          <p:nvPr/>
        </p:nvSpPr>
        <p:spPr>
          <a:xfrm>
            <a:off x="207750" y="1535700"/>
            <a:ext cx="6921900" cy="461700"/>
          </a:xfrm>
          <a:prstGeom prst="rect">
            <a:avLst/>
          </a:prstGeom>
          <a:noFill/>
          <a:ln>
            <a:noFill/>
          </a:ln>
        </p:spPr>
        <p:txBody>
          <a:bodyPr spcFirstLastPara="1" wrap="square" lIns="91425" tIns="91425" rIns="91425" bIns="91425" anchor="t" anchorCtr="0">
            <a:spAutoFit/>
          </a:bodyPr>
          <a:lstStyle/>
          <a:p>
            <a:pPr marL="457200" lvl="0" indent="0" algn="just" rtl="0">
              <a:spcBef>
                <a:spcPts val="0"/>
              </a:spcBef>
              <a:spcAft>
                <a:spcPts val="0"/>
              </a:spcAft>
              <a:buNone/>
            </a:pPr>
            <a:endParaRPr sz="1800" b="1">
              <a:solidFill>
                <a:schemeClr val="dk1"/>
              </a:solidFill>
            </a:endParaRPr>
          </a:p>
        </p:txBody>
      </p:sp>
      <p:graphicFrame>
        <p:nvGraphicFramePr>
          <p:cNvPr id="237" name="Google Shape;237;g3b345adf54c_0_87"/>
          <p:cNvGraphicFramePr/>
          <p:nvPr/>
        </p:nvGraphicFramePr>
        <p:xfrm>
          <a:off x="765125" y="1623925"/>
          <a:ext cx="3000000" cy="3000000"/>
        </p:xfrm>
        <a:graphic>
          <a:graphicData uri="http://schemas.openxmlformats.org/drawingml/2006/table">
            <a:tbl>
              <a:tblPr>
                <a:noFill/>
                <a:tableStyleId>{36EDD7AC-FA13-4A1A-9071-3E8B49EB11A8}</a:tableStyleId>
              </a:tblPr>
              <a:tblGrid>
                <a:gridCol w="1939725">
                  <a:extLst>
                    <a:ext uri="{9D8B030D-6E8A-4147-A177-3AD203B41FA5}">
                      <a16:colId xmlns:a16="http://schemas.microsoft.com/office/drawing/2014/main" val="20000"/>
                    </a:ext>
                  </a:extLst>
                </a:gridCol>
                <a:gridCol w="1226850">
                  <a:extLst>
                    <a:ext uri="{9D8B030D-6E8A-4147-A177-3AD203B41FA5}">
                      <a16:colId xmlns:a16="http://schemas.microsoft.com/office/drawing/2014/main" val="20001"/>
                    </a:ext>
                  </a:extLst>
                </a:gridCol>
                <a:gridCol w="960000">
                  <a:extLst>
                    <a:ext uri="{9D8B030D-6E8A-4147-A177-3AD203B41FA5}">
                      <a16:colId xmlns:a16="http://schemas.microsoft.com/office/drawing/2014/main" val="20002"/>
                    </a:ext>
                  </a:extLst>
                </a:gridCol>
                <a:gridCol w="1653925">
                  <a:extLst>
                    <a:ext uri="{9D8B030D-6E8A-4147-A177-3AD203B41FA5}">
                      <a16:colId xmlns:a16="http://schemas.microsoft.com/office/drawing/2014/main" val="20003"/>
                    </a:ext>
                  </a:extLst>
                </a:gridCol>
                <a:gridCol w="5123275">
                  <a:extLst>
                    <a:ext uri="{9D8B030D-6E8A-4147-A177-3AD203B41FA5}">
                      <a16:colId xmlns:a16="http://schemas.microsoft.com/office/drawing/2014/main" val="20004"/>
                    </a:ext>
                  </a:extLst>
                </a:gridCol>
              </a:tblGrid>
              <a:tr h="373475">
                <a:tc>
                  <a:txBody>
                    <a:bodyPr/>
                    <a:lstStyle/>
                    <a:p>
                      <a:pPr marL="0" lvl="0" indent="0" algn="just" rtl="0">
                        <a:lnSpc>
                          <a:spcPct val="115000"/>
                        </a:lnSpc>
                        <a:spcBef>
                          <a:spcPts val="1200"/>
                        </a:spcBef>
                        <a:spcAft>
                          <a:spcPts val="0"/>
                        </a:spcAft>
                        <a:buNone/>
                      </a:pPr>
                      <a:r>
                        <a:rPr lang="en-US" sz="1600" b="1"/>
                        <a:t>Step</a:t>
                      </a:r>
                      <a:endParaRPr sz="16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600" b="1"/>
                        <a:t>Stage</a:t>
                      </a:r>
                      <a:endParaRPr sz="16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600" b="1"/>
                        <a:t>Precision</a:t>
                      </a:r>
                      <a:endParaRPr sz="16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600" b="1"/>
                        <a:t>Tool</a:t>
                      </a:r>
                      <a:endParaRPr sz="16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600" b="1"/>
                        <a:t>Purpose / Key Details</a:t>
                      </a:r>
                      <a:endParaRPr sz="16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38075">
                <a:tc>
                  <a:txBody>
                    <a:bodyPr/>
                    <a:lstStyle/>
                    <a:p>
                      <a:pPr marL="0" lvl="0" indent="0" algn="just" rtl="0">
                        <a:lnSpc>
                          <a:spcPct val="115000"/>
                        </a:lnSpc>
                        <a:spcBef>
                          <a:spcPts val="1200"/>
                        </a:spcBef>
                        <a:spcAft>
                          <a:spcPts val="0"/>
                        </a:spcAft>
                        <a:buNone/>
                      </a:pPr>
                      <a:r>
                        <a:rPr lang="en-US" sz="1200" b="1"/>
                        <a:t>1️⃣ Base Model (Frozen)</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Base Model</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FP16</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Hugging Face</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Store general pretrained knowledge. Weights are frozen — no gradient updates.</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67475">
                <a:tc>
                  <a:txBody>
                    <a:bodyPr/>
                    <a:lstStyle/>
                    <a:p>
                      <a:pPr marL="0" lvl="0" indent="0" algn="just" rtl="0">
                        <a:lnSpc>
                          <a:spcPct val="115000"/>
                        </a:lnSpc>
                        <a:spcBef>
                          <a:spcPts val="1200"/>
                        </a:spcBef>
                        <a:spcAft>
                          <a:spcPts val="0"/>
                        </a:spcAft>
                        <a:buNone/>
                      </a:pPr>
                      <a:r>
                        <a:rPr lang="en-US" sz="1200" b="1"/>
                        <a:t>2️⃣ Quantize Base Model</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Quantization</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INT4</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BitsAndBytes</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Reduce GPU memory usage for fine-tuning. Stored as INT4, but dynamically dequantized to FP16 for computation. Base model remains frozen.</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75600">
                <a:tc>
                  <a:txBody>
                    <a:bodyPr/>
                    <a:lstStyle/>
                    <a:p>
                      <a:pPr marL="0" lvl="0" indent="0" algn="just" rtl="0">
                        <a:lnSpc>
                          <a:spcPct val="115000"/>
                        </a:lnSpc>
                        <a:spcBef>
                          <a:spcPts val="1200"/>
                        </a:spcBef>
                        <a:spcAft>
                          <a:spcPts val="0"/>
                        </a:spcAft>
                        <a:buNone/>
                      </a:pPr>
                      <a:r>
                        <a:rPr lang="en-US" sz="1200" b="1"/>
                        <a:t>3️⃣ Train LoRA Adapters</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Fine-Tuning</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FP16</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PEFT / Transformers</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Learn task-specific updates. Only LoRA adapter weights are trainable; base model remains frozen.</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67475">
                <a:tc>
                  <a:txBody>
                    <a:bodyPr/>
                    <a:lstStyle/>
                    <a:p>
                      <a:pPr marL="0" lvl="0" indent="0" algn="just" rtl="0">
                        <a:lnSpc>
                          <a:spcPct val="115000"/>
                        </a:lnSpc>
                        <a:spcBef>
                          <a:spcPts val="1200"/>
                        </a:spcBef>
                        <a:spcAft>
                          <a:spcPts val="0"/>
                        </a:spcAft>
                        <a:buNone/>
                      </a:pPr>
                      <a:r>
                        <a:rPr lang="en-US" sz="1200" b="1"/>
                        <a:t>4️⃣ Merge Base + LoRA</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Merge</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FP16</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merge_lora.py</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Base model (INT4) temporarily dequantized → LoRA FP16 deltas added → full FP16 merged model. Ensures consistency between base + adapter.</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75600">
                <a:tc>
                  <a:txBody>
                    <a:bodyPr/>
                    <a:lstStyle/>
                    <a:p>
                      <a:pPr marL="0" lvl="0" indent="0" algn="just" rtl="0">
                        <a:lnSpc>
                          <a:spcPct val="115000"/>
                        </a:lnSpc>
                        <a:spcBef>
                          <a:spcPts val="1200"/>
                        </a:spcBef>
                        <a:spcAft>
                          <a:spcPts val="0"/>
                        </a:spcAft>
                        <a:buNone/>
                      </a:pPr>
                      <a:r>
                        <a:rPr lang="en-US" sz="1200" b="1"/>
                        <a:t>5️⃣ Re-Quantize Final Model</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Re-Quantization</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INT4</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quantize.py</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Merge FP16 model re-quantized to INT4 for memory-efficient inference. Aligns quantization scales.</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575600">
                <a:tc>
                  <a:txBody>
                    <a:bodyPr/>
                    <a:lstStyle/>
                    <a:p>
                      <a:pPr marL="0" lvl="0" indent="0" algn="just" rtl="0">
                        <a:lnSpc>
                          <a:spcPct val="115000"/>
                        </a:lnSpc>
                        <a:spcBef>
                          <a:spcPts val="1200"/>
                        </a:spcBef>
                        <a:spcAft>
                          <a:spcPts val="0"/>
                        </a:spcAft>
                        <a:buNone/>
                      </a:pPr>
                      <a:r>
                        <a:rPr lang="en-US" sz="1200" b="1"/>
                        <a:t>6️⃣ Convert to GGUF</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Format Conversion</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INT4</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convert-hf-to-gguf.py</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Convert final INT4 model to GGUF binary format — portable, runtime-efficient for llama.cpp.</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575600">
                <a:tc>
                  <a:txBody>
                    <a:bodyPr/>
                    <a:lstStyle/>
                    <a:p>
                      <a:pPr marL="0" lvl="0" indent="0" algn="just" rtl="0">
                        <a:lnSpc>
                          <a:spcPct val="115000"/>
                        </a:lnSpc>
                        <a:spcBef>
                          <a:spcPts val="1200"/>
                        </a:spcBef>
                        <a:spcAft>
                          <a:spcPts val="0"/>
                        </a:spcAft>
                        <a:buNone/>
                      </a:pPr>
                      <a:r>
                        <a:rPr lang="en-US" sz="1200" b="1"/>
                        <a:t>7️⃣ Inference</a:t>
                      </a:r>
                      <a:endParaRPr sz="1200" b="1"/>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Deployment</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INT4</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llama.cpp</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US" sz="1200"/>
                        <a:t>Lightweight, fast deployment on CPU, GPU, or laptops. INT4 ensures minimal memory and compute usage.</a:t>
                      </a:r>
                      <a:endParaRPr sz="1200"/>
                    </a:p>
                  </a:txBody>
                  <a:tcPr marL="9525" marR="9525" marT="9525" marB="95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b345adf54c_0_99"/>
          <p:cNvSpPr txBox="1"/>
          <p:nvPr/>
        </p:nvSpPr>
        <p:spPr>
          <a:xfrm>
            <a:off x="723475" y="0"/>
            <a:ext cx="11468400" cy="12492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2420"/>
              <a:buFont typeface="Play"/>
              <a:buNone/>
            </a:pPr>
            <a:r>
              <a:rPr lang="en-US" sz="3000" b="1">
                <a:solidFill>
                  <a:schemeClr val="dk1"/>
                </a:solidFill>
                <a:latin typeface="Play"/>
                <a:ea typeface="Play"/>
                <a:cs typeface="Play"/>
                <a:sym typeface="Play"/>
              </a:rPr>
              <a:t>Groq and Hugging Face API</a:t>
            </a:r>
            <a:endParaRPr sz="3000" b="1">
              <a:solidFill>
                <a:schemeClr val="dk1"/>
              </a:solidFill>
              <a:latin typeface="Play"/>
              <a:ea typeface="Play"/>
              <a:cs typeface="Play"/>
              <a:sym typeface="Play"/>
            </a:endParaRPr>
          </a:p>
        </p:txBody>
      </p:sp>
      <p:sp>
        <p:nvSpPr>
          <p:cNvPr id="243" name="Google Shape;243;g3b345adf54c_0_99"/>
          <p:cNvSpPr txBox="1"/>
          <p:nvPr/>
        </p:nvSpPr>
        <p:spPr>
          <a:xfrm>
            <a:off x="552600" y="1374125"/>
            <a:ext cx="5823300" cy="4125000"/>
          </a:xfrm>
          <a:prstGeom prst="rect">
            <a:avLst/>
          </a:prstGeom>
          <a:noFill/>
          <a:ln>
            <a:noFill/>
          </a:ln>
        </p:spPr>
        <p:txBody>
          <a:bodyPr spcFirstLastPara="1" wrap="square" lIns="91425" tIns="91425" rIns="91425" bIns="91425" anchor="t" anchorCtr="0">
            <a:spAutoFit/>
          </a:bodyPr>
          <a:lstStyle/>
          <a:p>
            <a:pPr marL="457200" lvl="0" indent="-330200" algn="just" rtl="0">
              <a:spcBef>
                <a:spcPts val="0"/>
              </a:spcBef>
              <a:spcAft>
                <a:spcPts val="0"/>
              </a:spcAft>
              <a:buClr>
                <a:schemeClr val="dk1"/>
              </a:buClr>
              <a:buSzPts val="1600"/>
              <a:buAutoNum type="arabicPeriod"/>
            </a:pPr>
            <a:r>
              <a:rPr lang="en-US" sz="1600" b="1">
                <a:solidFill>
                  <a:schemeClr val="dk1"/>
                </a:solidFill>
              </a:rPr>
              <a:t>Base Model / Foundation Model:</a:t>
            </a:r>
            <a:endParaRPr sz="1600" b="1">
              <a:solidFill>
                <a:schemeClr val="dk1"/>
              </a:solidFill>
            </a:endParaRPr>
          </a:p>
          <a:p>
            <a:pPr marL="457200" lvl="0" indent="0" algn="just" rtl="0">
              <a:spcBef>
                <a:spcPts val="0"/>
              </a:spcBef>
              <a:spcAft>
                <a:spcPts val="0"/>
              </a:spcAft>
              <a:buNone/>
            </a:pPr>
            <a:r>
              <a:rPr lang="en-US" sz="1600">
                <a:solidFill>
                  <a:schemeClr val="dk1"/>
                </a:solidFill>
              </a:rPr>
              <a:t>LLM trained on large-scale data with billions of parameters to learn general language representations.</a:t>
            </a:r>
            <a:endParaRPr sz="1600">
              <a:solidFill>
                <a:schemeClr val="dk1"/>
              </a:solidFill>
            </a:endParaRPr>
          </a:p>
          <a:p>
            <a:pPr marL="457200" lvl="0" indent="0" algn="just" rtl="0">
              <a:spcBef>
                <a:spcPts val="0"/>
              </a:spcBef>
              <a:spcAft>
                <a:spcPts val="0"/>
              </a:spcAft>
              <a:buNone/>
            </a:pPr>
            <a:endParaRPr sz="1600">
              <a:solidFill>
                <a:schemeClr val="dk1"/>
              </a:solidFill>
            </a:endParaRPr>
          </a:p>
          <a:p>
            <a:pPr marL="457200" lvl="0" indent="-330200" algn="just" rtl="0">
              <a:spcBef>
                <a:spcPts val="0"/>
              </a:spcBef>
              <a:spcAft>
                <a:spcPts val="0"/>
              </a:spcAft>
              <a:buClr>
                <a:schemeClr val="dk1"/>
              </a:buClr>
              <a:buSzPts val="1600"/>
              <a:buAutoNum type="arabicPeriod"/>
            </a:pPr>
            <a:r>
              <a:rPr lang="en-US" sz="1600" b="1">
                <a:solidFill>
                  <a:schemeClr val="dk1"/>
                </a:solidFill>
              </a:rPr>
              <a:t>Fine Tuning:</a:t>
            </a:r>
            <a:endParaRPr sz="1600" b="1">
              <a:solidFill>
                <a:schemeClr val="dk1"/>
              </a:solidFill>
            </a:endParaRPr>
          </a:p>
          <a:p>
            <a:pPr marL="457200" lvl="0" indent="0" algn="just" rtl="0">
              <a:spcBef>
                <a:spcPts val="0"/>
              </a:spcBef>
              <a:spcAft>
                <a:spcPts val="0"/>
              </a:spcAft>
              <a:buNone/>
            </a:pPr>
            <a:r>
              <a:rPr lang="en-US" sz="1600">
                <a:solidFill>
                  <a:schemeClr val="dk1"/>
                </a:solidFill>
              </a:rPr>
              <a:t>Adapts a foundation model for task-specific work. Model weights may be fully fine-tuned or kept frozen while adding adapters (such as LoRA/QLoRA) to efficiently learn new task-specific knowledge.</a:t>
            </a:r>
            <a:endParaRPr sz="1600">
              <a:solidFill>
                <a:schemeClr val="dk1"/>
              </a:solidFill>
            </a:endParaRPr>
          </a:p>
          <a:p>
            <a:pPr marL="457200" lvl="0" indent="0" algn="just" rtl="0">
              <a:spcBef>
                <a:spcPts val="0"/>
              </a:spcBef>
              <a:spcAft>
                <a:spcPts val="0"/>
              </a:spcAft>
              <a:buNone/>
            </a:pPr>
            <a:endParaRPr sz="1600">
              <a:solidFill>
                <a:schemeClr val="dk1"/>
              </a:solidFill>
            </a:endParaRPr>
          </a:p>
          <a:p>
            <a:pPr marL="457200" lvl="0" indent="-330200" algn="just" rtl="0">
              <a:spcBef>
                <a:spcPts val="0"/>
              </a:spcBef>
              <a:spcAft>
                <a:spcPts val="0"/>
              </a:spcAft>
              <a:buClr>
                <a:schemeClr val="dk1"/>
              </a:buClr>
              <a:buSzPts val="1600"/>
              <a:buAutoNum type="arabicPeriod"/>
            </a:pPr>
            <a:r>
              <a:rPr lang="en-US" sz="1600" b="1">
                <a:solidFill>
                  <a:schemeClr val="dk1"/>
                </a:solidFill>
              </a:rPr>
              <a:t>Quantization:</a:t>
            </a:r>
            <a:endParaRPr sz="1600" b="1">
              <a:solidFill>
                <a:schemeClr val="dk1"/>
              </a:solidFill>
            </a:endParaRPr>
          </a:p>
          <a:p>
            <a:pPr marL="457200" lvl="0" indent="0" algn="just" rtl="0">
              <a:spcBef>
                <a:spcPts val="0"/>
              </a:spcBef>
              <a:spcAft>
                <a:spcPts val="0"/>
              </a:spcAft>
              <a:buNone/>
            </a:pPr>
            <a:r>
              <a:rPr lang="en-US" sz="1600">
                <a:solidFill>
                  <a:schemeClr val="dk1"/>
                </a:solidFill>
              </a:rPr>
              <a:t>Reduces model weight precision (e.g., FP16 to INT8 or INT4) to lower memory usage and computational cost, enabling faster inference in resource-constrained environments with minimal accuracy loss.</a:t>
            </a:r>
            <a:endParaRPr sz="1600">
              <a:solidFill>
                <a:schemeClr val="dk1"/>
              </a:solidFill>
            </a:endParaRPr>
          </a:p>
          <a:p>
            <a:pPr marL="0" lvl="0" indent="0" algn="just" rtl="0">
              <a:spcBef>
                <a:spcPts val="0"/>
              </a:spcBef>
              <a:spcAft>
                <a:spcPts val="0"/>
              </a:spcAft>
              <a:buNone/>
            </a:pPr>
            <a:endParaRPr sz="1600" b="1">
              <a:solidFill>
                <a:schemeClr val="dk1"/>
              </a:solidFill>
            </a:endParaRPr>
          </a:p>
        </p:txBody>
      </p:sp>
      <p:sp>
        <p:nvSpPr>
          <p:cNvPr id="244" name="Google Shape;244;g3b345adf54c_0_99"/>
          <p:cNvSpPr txBox="1"/>
          <p:nvPr/>
        </p:nvSpPr>
        <p:spPr>
          <a:xfrm>
            <a:off x="7000600" y="1374125"/>
            <a:ext cx="50748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1"/>
                </a:solidFill>
              </a:rPr>
              <a:t>Why Tuning with Frozen Layer of Foundation Model:</a:t>
            </a:r>
            <a:endParaRPr sz="1800" b="1">
              <a:solidFill>
                <a:schemeClr val="dk1"/>
              </a:solidFill>
            </a:endParaRPr>
          </a:p>
          <a:p>
            <a:pPr marL="0" lvl="0" indent="0" algn="l" rtl="0">
              <a:spcBef>
                <a:spcPts val="0"/>
              </a:spcBef>
              <a:spcAft>
                <a:spcPts val="0"/>
              </a:spcAft>
              <a:buClr>
                <a:schemeClr val="dk1"/>
              </a:buClr>
              <a:buSzPts val="1100"/>
              <a:buFont typeface="Arial"/>
              <a:buNone/>
            </a:pPr>
            <a:r>
              <a:rPr lang="en-US" sz="1600">
                <a:solidFill>
                  <a:schemeClr val="dk1"/>
                </a:solidFill>
              </a:rPr>
              <a:t>1. Preserves general knowledge learned by the foundation model and avoids catastrophic forgetting.</a:t>
            </a:r>
            <a:endParaRPr sz="1600">
              <a:solidFill>
                <a:schemeClr val="dk1"/>
              </a:solidFill>
            </a:endParaRPr>
          </a:p>
          <a:p>
            <a:pPr marL="0" lvl="0" indent="0" algn="l" rtl="0">
              <a:spcBef>
                <a:spcPts val="0"/>
              </a:spcBef>
              <a:spcAft>
                <a:spcPts val="0"/>
              </a:spcAft>
              <a:buClr>
                <a:schemeClr val="dk1"/>
              </a:buClr>
              <a:buSzPts val="1100"/>
              <a:buFont typeface="Arial"/>
              <a:buNone/>
            </a:pPr>
            <a:r>
              <a:rPr lang="en-US" sz="1600">
                <a:solidFill>
                  <a:schemeClr val="dk1"/>
                </a:solidFill>
              </a:rPr>
              <a:t>2. Reduces training cost and memory usage by updating only a small number of parameters.</a:t>
            </a:r>
            <a:endParaRPr sz="1600">
              <a:solidFill>
                <a:schemeClr val="dk1"/>
              </a:solidFill>
            </a:endParaRPr>
          </a:p>
          <a:p>
            <a:pPr marL="0" lvl="0" indent="0" algn="l" rtl="0">
              <a:spcBef>
                <a:spcPts val="0"/>
              </a:spcBef>
              <a:spcAft>
                <a:spcPts val="0"/>
              </a:spcAft>
              <a:buClr>
                <a:schemeClr val="dk1"/>
              </a:buClr>
              <a:buSzPts val="1100"/>
              <a:buFont typeface="Arial"/>
              <a:buNone/>
            </a:pPr>
            <a:r>
              <a:rPr lang="en-US" sz="1600">
                <a:solidFill>
                  <a:schemeClr val="dk1"/>
                </a:solidFill>
              </a:rPr>
              <a:t>3. Prevents overfitting when task-specific data is limited.</a:t>
            </a:r>
            <a:endParaRPr sz="1600">
              <a:solidFill>
                <a:schemeClr val="dk1"/>
              </a:solidFill>
            </a:endParaRPr>
          </a:p>
          <a:p>
            <a:pPr marL="0" lvl="0" indent="0" algn="l" rtl="0">
              <a:spcBef>
                <a:spcPts val="0"/>
              </a:spcBef>
              <a:spcAft>
                <a:spcPts val="0"/>
              </a:spcAft>
              <a:buClr>
                <a:schemeClr val="dk1"/>
              </a:buClr>
              <a:buSzPts val="1100"/>
              <a:buFont typeface="Arial"/>
              <a:buNone/>
            </a:pPr>
            <a:r>
              <a:rPr lang="en-US" sz="1600">
                <a:solidFill>
                  <a:schemeClr val="dk1"/>
                </a:solidFill>
              </a:rPr>
              <a:t>4. Enables faster and practical fine-tuning on resource-constrained hardware.</a:t>
            </a:r>
            <a:endParaRPr sz="1600">
              <a:solidFill>
                <a:schemeClr val="dk1"/>
              </a:solidFill>
            </a:endParaRPr>
          </a:p>
          <a:p>
            <a:pPr marL="0" lvl="0" indent="0" algn="l" rtl="0">
              <a:spcBef>
                <a:spcPts val="0"/>
              </a:spcBef>
              <a:spcAft>
                <a:spcPts val="0"/>
              </a:spcAft>
              <a:buNone/>
            </a:pPr>
            <a:endParaRPr sz="160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1526</Words>
  <Application>Microsoft Office PowerPoint</Application>
  <PresentationFormat>Widescreen</PresentationFormat>
  <Paragraphs>225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Play</vt:lpstr>
      <vt:lpstr>Office Theme</vt:lpstr>
      <vt:lpstr>RAG, LLM, API</vt:lpstr>
      <vt:lpstr>RAG (Retrieval Augmented Generation)?</vt:lpstr>
      <vt:lpstr>Simple RAG vs RAG Agent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LLM, API</dc:title>
  <dc:creator>Shibli Nomani</dc:creator>
  <cp:lastModifiedBy>shibli</cp:lastModifiedBy>
  <cp:revision>1</cp:revision>
  <dcterms:created xsi:type="dcterms:W3CDTF">2025-11-24T17:11:45Z</dcterms:created>
  <dcterms:modified xsi:type="dcterms:W3CDTF">2025-12-23T16:50:44Z</dcterms:modified>
</cp:coreProperties>
</file>